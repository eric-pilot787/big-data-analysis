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12192000"/>
  <p:notesSz cx="6858000" cy="9144000"/>
  <p:embeddedFontLst>
    <p:embeddedFont>
      <p:font typeface="Play"/>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5" roundtripDataSignature="AMtx7mg/ArTnG9OaqE0rK+P5iJtcvzV4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Play-bold.fntdata"/><Relationship Id="rId21" Type="http://schemas.openxmlformats.org/officeDocument/2006/relationships/slide" Target="slides/slide16.xml"/><Relationship Id="rId43" Type="http://schemas.openxmlformats.org/officeDocument/2006/relationships/font" Target="fonts/Play-regular.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5" name="Shape 15"/>
        <p:cNvGrpSpPr/>
        <p:nvPr/>
      </p:nvGrpSpPr>
      <p:grpSpPr>
        <a:xfrm>
          <a:off x="0" y="0"/>
          <a:ext cx="0" cy="0"/>
          <a:chOff x="0" y="0"/>
          <a:chExt cx="0" cy="0"/>
        </a:xfrm>
      </p:grpSpPr>
      <p:sp>
        <p:nvSpPr>
          <p:cNvPr id="16" name="Google Shape;16;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9" name="Shape 19"/>
        <p:cNvGrpSpPr/>
        <p:nvPr/>
      </p:nvGrpSpPr>
      <p:grpSpPr>
        <a:xfrm>
          <a:off x="0" y="0"/>
          <a:ext cx="0" cy="0"/>
          <a:chOff x="0" y="0"/>
          <a:chExt cx="0" cy="0"/>
        </a:xfrm>
      </p:grpSpPr>
      <p:sp>
        <p:nvSpPr>
          <p:cNvPr id="20" name="Google Shape;20;p4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內容" type="obj">
  <p:cSld name="OBJECT">
    <p:spTree>
      <p:nvGrpSpPr>
        <p:cNvPr id="25" name="Shape 25"/>
        <p:cNvGrpSpPr/>
        <p:nvPr/>
      </p:nvGrpSpPr>
      <p:grpSpPr>
        <a:xfrm>
          <a:off x="0" y="0"/>
          <a:ext cx="0" cy="0"/>
          <a:chOff x="0" y="0"/>
          <a:chExt cx="0" cy="0"/>
        </a:xfrm>
      </p:grpSpPr>
      <p:sp>
        <p:nvSpPr>
          <p:cNvPr id="26" name="Google Shape;2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31" name="Shape 31"/>
        <p:cNvGrpSpPr/>
        <p:nvPr/>
      </p:nvGrpSpPr>
      <p:grpSpPr>
        <a:xfrm>
          <a:off x="0" y="0"/>
          <a:ext cx="0" cy="0"/>
          <a:chOff x="0" y="0"/>
          <a:chExt cx="0" cy="0"/>
        </a:xfrm>
      </p:grpSpPr>
      <p:sp>
        <p:nvSpPr>
          <p:cNvPr id="32" name="Google Shape;32;p4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4" name="Google Shape;34;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個內容" type="twoObj">
  <p:cSld name="TWO_OBJECTS">
    <p:spTree>
      <p:nvGrpSpPr>
        <p:cNvPr id="37" name="Shape 37"/>
        <p:cNvGrpSpPr/>
        <p:nvPr/>
      </p:nvGrpSpPr>
      <p:grpSpPr>
        <a:xfrm>
          <a:off x="0" y="0"/>
          <a:ext cx="0" cy="0"/>
          <a:chOff x="0" y="0"/>
          <a:chExt cx="0" cy="0"/>
        </a:xfrm>
      </p:grpSpPr>
      <p:sp>
        <p:nvSpPr>
          <p:cNvPr id="38" name="Google Shape;38;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44" name="Shape 44"/>
        <p:cNvGrpSpPr/>
        <p:nvPr/>
      </p:nvGrpSpPr>
      <p:grpSpPr>
        <a:xfrm>
          <a:off x="0" y="0"/>
          <a:ext cx="0" cy="0"/>
          <a:chOff x="0" y="0"/>
          <a:chExt cx="0" cy="0"/>
        </a:xfrm>
      </p:grpSpPr>
      <p:sp>
        <p:nvSpPr>
          <p:cNvPr id="45" name="Google Shape;45;p4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4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4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53" name="Shape 53"/>
        <p:cNvGrpSpPr/>
        <p:nvPr/>
      </p:nvGrpSpPr>
      <p:grpSpPr>
        <a:xfrm>
          <a:off x="0" y="0"/>
          <a:ext cx="0" cy="0"/>
          <a:chOff x="0" y="0"/>
          <a:chExt cx="0" cy="0"/>
        </a:xfrm>
      </p:grpSpPr>
      <p:sp>
        <p:nvSpPr>
          <p:cNvPr id="54" name="Google Shape;54;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內容" type="objTx">
  <p:cSld name="OBJECT_WITH_CAPTION_TEXT">
    <p:spTree>
      <p:nvGrpSpPr>
        <p:cNvPr id="58" name="Shape 58"/>
        <p:cNvGrpSpPr/>
        <p:nvPr/>
      </p:nvGrpSpPr>
      <p:grpSpPr>
        <a:xfrm>
          <a:off x="0" y="0"/>
          <a:ext cx="0" cy="0"/>
          <a:chOff x="0" y="0"/>
          <a:chExt cx="0" cy="0"/>
        </a:xfrm>
      </p:grpSpPr>
      <p:sp>
        <p:nvSpPr>
          <p:cNvPr id="59" name="Google Shape;59;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圖片" type="picTx">
  <p:cSld name="PICTURE_WITH_CAPTION_TEXT">
    <p:spTree>
      <p:nvGrpSpPr>
        <p:cNvPr id="65" name="Shape 65"/>
        <p:cNvGrpSpPr/>
        <p:nvPr/>
      </p:nvGrpSpPr>
      <p:grpSpPr>
        <a:xfrm>
          <a:off x="0" y="0"/>
          <a:ext cx="0" cy="0"/>
          <a:chOff x="0" y="0"/>
          <a:chExt cx="0" cy="0"/>
        </a:xfrm>
      </p:grpSpPr>
      <p:sp>
        <p:nvSpPr>
          <p:cNvPr id="66" name="Google Shape;66;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7"/>
          <p:cNvSpPr/>
          <p:nvPr>
            <p:ph idx="2" type="pic"/>
          </p:nvPr>
        </p:nvSpPr>
        <p:spPr>
          <a:xfrm>
            <a:off x="5183188" y="987425"/>
            <a:ext cx="6172200" cy="4873625"/>
          </a:xfrm>
          <a:prstGeom prst="rect">
            <a:avLst/>
          </a:prstGeom>
          <a:noFill/>
          <a:ln>
            <a:noFill/>
          </a:ln>
        </p:spPr>
      </p:sp>
      <p:sp>
        <p:nvSpPr>
          <p:cNvPr id="68" name="Google Shape;68;p4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72" name="Shape 72"/>
        <p:cNvGrpSpPr/>
        <p:nvPr/>
      </p:nvGrpSpPr>
      <p:grpSpPr>
        <a:xfrm>
          <a:off x="0" y="0"/>
          <a:ext cx="0" cy="0"/>
          <a:chOff x="0" y="0"/>
          <a:chExt cx="0" cy="0"/>
        </a:xfrm>
      </p:grpSpPr>
      <p:sp>
        <p:nvSpPr>
          <p:cNvPr id="73" name="Google Shape;73;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78" name="Shape 78"/>
        <p:cNvGrpSpPr/>
        <p:nvPr/>
      </p:nvGrpSpPr>
      <p:grpSpPr>
        <a:xfrm>
          <a:off x="0" y="0"/>
          <a:ext cx="0" cy="0"/>
          <a:chOff x="0" y="0"/>
          <a:chExt cx="0" cy="0"/>
        </a:xfrm>
      </p:grpSpPr>
      <p:sp>
        <p:nvSpPr>
          <p:cNvPr id="79" name="Google Shape;79;p4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Microsoft JhengHei"/>
                <a:ea typeface="Microsoft JhengHei"/>
                <a:cs typeface="Microsoft JhengHei"/>
                <a:sym typeface="Microsoft JhengHe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Microsoft JhengHei"/>
                <a:ea typeface="Microsoft JhengHei"/>
                <a:cs typeface="Microsoft JhengHei"/>
                <a:sym typeface="Microsoft JhengHe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1pPr>
            <a:lvl2pPr indent="0" lvl="1"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2pPr>
            <a:lvl3pPr indent="0" lvl="2"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3pPr>
            <a:lvl4pPr indent="0" lvl="3"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4pPr>
            <a:lvl5pPr indent="0" lvl="4"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5pPr>
            <a:lvl6pPr indent="0" lvl="5"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6pPr>
            <a:lvl7pPr indent="0" lvl="6"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7pPr>
            <a:lvl8pPr indent="0" lvl="7"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8pPr>
            <a:lvl9pPr indent="0" lvl="8" marL="0" marR="0" rtl="0" algn="r">
              <a:spcBef>
                <a:spcPts val="0"/>
              </a:spcBef>
              <a:buNone/>
              <a:defRPr b="0" i="0" sz="1200" u="none" cap="none" strike="noStrike">
                <a:solidFill>
                  <a:srgbClr val="757575"/>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youtu.be/bAyrObl7TYE?feature=shared" TargetMode="Externa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youtu.be/aeHqYLgZP84?feature=shared" TargetMode="Externa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youtu.be/1_c18g_Lpu8?feature=shared" TargetMode="External"/><Relationship Id="rId4"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rot="5400000">
            <a:off x="4894862" y="-1700283"/>
            <a:ext cx="4338053" cy="10256224"/>
          </a:xfrm>
          <a:custGeom>
            <a:rect b="b" l="l" r="r" t="t"/>
            <a:pathLst>
              <a:path extrusionOk="0" h="5563803" w="2353310">
                <a:moveTo>
                  <a:pt x="784860" y="5496494"/>
                </a:moveTo>
                <a:cubicBezTo>
                  <a:pt x="905510" y="5537133"/>
                  <a:pt x="1042670" y="5563803"/>
                  <a:pt x="1177290" y="5563803"/>
                </a:cubicBezTo>
                <a:cubicBezTo>
                  <a:pt x="1311910" y="5563803"/>
                  <a:pt x="1441450" y="5540944"/>
                  <a:pt x="1560830" y="5500303"/>
                </a:cubicBezTo>
                <a:cubicBezTo>
                  <a:pt x="1563370" y="5499033"/>
                  <a:pt x="1565910" y="5499033"/>
                  <a:pt x="1568450" y="5497764"/>
                </a:cubicBezTo>
                <a:cubicBezTo>
                  <a:pt x="2016760" y="5335203"/>
                  <a:pt x="2346960" y="4905944"/>
                  <a:pt x="2353310" y="4396002"/>
                </a:cubicBezTo>
                <a:lnTo>
                  <a:pt x="2353310" y="0"/>
                </a:lnTo>
                <a:lnTo>
                  <a:pt x="0" y="0"/>
                </a:lnTo>
                <a:lnTo>
                  <a:pt x="0" y="4392659"/>
                </a:lnTo>
                <a:cubicBezTo>
                  <a:pt x="6350" y="4908483"/>
                  <a:pt x="331470" y="5337744"/>
                  <a:pt x="784860" y="5496494"/>
                </a:cubicBezTo>
                <a:close/>
              </a:path>
            </a:pathLst>
          </a:custGeom>
          <a:solidFill>
            <a:srgbClr val="3657A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1"/>
          <p:cNvSpPr/>
          <p:nvPr/>
        </p:nvSpPr>
        <p:spPr>
          <a:xfrm rot="10800000">
            <a:off x="10474246" y="-598714"/>
            <a:ext cx="2064028" cy="2098123"/>
          </a:xfrm>
          <a:custGeom>
            <a:rect b="b" l="l" r="r" t="t"/>
            <a:pathLst>
              <a:path extrusionOk="0" h="2098123" w="2064028">
                <a:moveTo>
                  <a:pt x="0" y="0"/>
                </a:moveTo>
                <a:lnTo>
                  <a:pt x="2064028" y="0"/>
                </a:lnTo>
                <a:lnTo>
                  <a:pt x="2064028"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1"/>
          <p:cNvSpPr/>
          <p:nvPr/>
        </p:nvSpPr>
        <p:spPr>
          <a:xfrm rot="-2027362">
            <a:off x="-1459304" y="4867084"/>
            <a:ext cx="3232047" cy="2743200"/>
          </a:xfrm>
          <a:custGeom>
            <a:rect b="b" l="l" r="r" t="t"/>
            <a:pathLst>
              <a:path extrusionOk="0" h="2743200" w="3232047">
                <a:moveTo>
                  <a:pt x="0" y="0"/>
                </a:moveTo>
                <a:lnTo>
                  <a:pt x="3232048" y="0"/>
                </a:lnTo>
                <a:lnTo>
                  <a:pt x="3232048" y="2743200"/>
                </a:lnTo>
                <a:lnTo>
                  <a:pt x="0" y="27432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1"/>
          <p:cNvSpPr txBox="1"/>
          <p:nvPr/>
        </p:nvSpPr>
        <p:spPr>
          <a:xfrm>
            <a:off x="3192000" y="1735907"/>
            <a:ext cx="9000000" cy="10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6600"/>
              <a:buFont typeface="Microsoft JhengHei"/>
              <a:buNone/>
            </a:pPr>
            <a:r>
              <a:rPr b="1" lang="en-US" sz="6600" u="none">
                <a:solidFill>
                  <a:schemeClr val="lt1"/>
                </a:solidFill>
                <a:latin typeface="Microsoft JhengHei"/>
                <a:ea typeface="Microsoft JhengHei"/>
                <a:cs typeface="Microsoft JhengHei"/>
                <a:sym typeface="Microsoft JhengHei"/>
              </a:rPr>
              <a:t>大數據視覺化設計實務</a:t>
            </a:r>
            <a:endParaRPr/>
          </a:p>
        </p:txBody>
      </p:sp>
      <p:sp>
        <p:nvSpPr>
          <p:cNvPr id="92" name="Google Shape;92;p1"/>
          <p:cNvSpPr txBox="1"/>
          <p:nvPr/>
        </p:nvSpPr>
        <p:spPr>
          <a:xfrm>
            <a:off x="5785500" y="3306375"/>
            <a:ext cx="6406500" cy="18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1000"/>
              </a:spcBef>
              <a:spcAft>
                <a:spcPts val="0"/>
              </a:spcAft>
              <a:buClr>
                <a:schemeClr val="lt1"/>
              </a:buClr>
              <a:buSzPts val="2400"/>
              <a:buFont typeface="Arial"/>
              <a:buNone/>
            </a:pPr>
            <a:r>
              <a:rPr lang="en-US" sz="2400">
                <a:solidFill>
                  <a:schemeClr val="lt1"/>
                </a:solidFill>
                <a:latin typeface="Microsoft JhengHei"/>
                <a:ea typeface="Microsoft JhengHei"/>
                <a:cs typeface="Microsoft JhengHei"/>
                <a:sym typeface="Microsoft JhengHei"/>
              </a:rPr>
              <a:t>歐</a:t>
            </a:r>
            <a:r>
              <a:rPr b="0" lang="en-US" sz="2400" u="none">
                <a:solidFill>
                  <a:schemeClr val="lt1"/>
                </a:solidFill>
                <a:latin typeface="Microsoft JhengHei"/>
                <a:ea typeface="Microsoft JhengHei"/>
                <a:cs typeface="Microsoft JhengHei"/>
                <a:sym typeface="Microsoft JhengHei"/>
              </a:rPr>
              <a:t>陽振森  教授</a:t>
            </a:r>
            <a:endParaRPr b="0" sz="2400" u="none">
              <a:solidFill>
                <a:schemeClr val="lt1"/>
              </a:solidFill>
              <a:latin typeface="Microsoft JhengHei"/>
              <a:ea typeface="Microsoft JhengHei"/>
              <a:cs typeface="Microsoft JhengHei"/>
              <a:sym typeface="Microsoft JhengHe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 name="Google Shape;98;p2"/>
          <p:cNvSpPr/>
          <p:nvPr/>
        </p:nvSpPr>
        <p:spPr>
          <a:xfrm>
            <a:off x="685860" y="-1104967"/>
            <a:ext cx="499993" cy="2839828"/>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9" name="Google Shape;99;p2"/>
          <p:cNvSpPr txBox="1"/>
          <p:nvPr/>
        </p:nvSpPr>
        <p:spPr>
          <a:xfrm>
            <a:off x="1423886" y="1185428"/>
            <a:ext cx="7200000" cy="628377"/>
          </a:xfrm>
          <a:prstGeom prst="rect">
            <a:avLst/>
          </a:prstGeom>
          <a:noFill/>
          <a:ln>
            <a:noFill/>
          </a:ln>
        </p:spPr>
        <p:txBody>
          <a:bodyPr anchorCtr="0" anchor="ctr" bIns="0" lIns="0" spcFirstLastPara="1" rIns="0" wrap="square" tIns="0">
            <a:noAutofit/>
          </a:bodyPr>
          <a:lstStyle/>
          <a:p>
            <a:pPr indent="0" lvl="0" marL="0" marR="0" rtl="0" algn="l">
              <a:lnSpc>
                <a:spcPct val="112477"/>
              </a:lnSpc>
              <a:spcBef>
                <a:spcPts val="0"/>
              </a:spcBef>
              <a:spcAft>
                <a:spcPts val="0"/>
              </a:spcAft>
              <a:buNone/>
            </a:pPr>
            <a:r>
              <a:rPr b="1" lang="en-US" sz="4400">
                <a:solidFill>
                  <a:srgbClr val="26459B"/>
                </a:solidFill>
                <a:latin typeface="Microsoft JhengHei"/>
                <a:ea typeface="Microsoft JhengHei"/>
                <a:cs typeface="Microsoft JhengHei"/>
                <a:sym typeface="Microsoft JhengHei"/>
              </a:rPr>
              <a:t>CH1 Introduction</a:t>
            </a:r>
            <a:endParaRPr/>
          </a:p>
        </p:txBody>
      </p:sp>
      <p:grpSp>
        <p:nvGrpSpPr>
          <p:cNvPr id="100" name="Google Shape;100;p2"/>
          <p:cNvGrpSpPr/>
          <p:nvPr/>
        </p:nvGrpSpPr>
        <p:grpSpPr>
          <a:xfrm>
            <a:off x="1423886" y="2155792"/>
            <a:ext cx="6086200" cy="720000"/>
            <a:chOff x="1423886" y="2155792"/>
            <a:chExt cx="6086200" cy="720000"/>
          </a:xfrm>
        </p:grpSpPr>
        <p:grpSp>
          <p:nvGrpSpPr>
            <p:cNvPr id="101" name="Google Shape;101;p2"/>
            <p:cNvGrpSpPr/>
            <p:nvPr/>
          </p:nvGrpSpPr>
          <p:grpSpPr>
            <a:xfrm>
              <a:off x="1423886" y="2291573"/>
              <a:ext cx="448438" cy="448438"/>
              <a:chOff x="737685" y="2522598"/>
              <a:chExt cx="448438" cy="448438"/>
            </a:xfrm>
          </p:grpSpPr>
          <p:sp>
            <p:nvSpPr>
              <p:cNvPr id="102" name="Google Shape;102;p2"/>
              <p:cNvSpPr/>
              <p:nvPr/>
            </p:nvSpPr>
            <p:spPr>
              <a:xfrm>
                <a:off x="737685" y="2522598"/>
                <a:ext cx="448438" cy="4484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327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2"/>
              <p:cNvSpPr/>
              <p:nvPr/>
            </p:nvSpPr>
            <p:spPr>
              <a:xfrm>
                <a:off x="854585" y="2639498"/>
                <a:ext cx="214638" cy="2146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4" name="Google Shape;104;p2"/>
            <p:cNvSpPr txBox="1"/>
            <p:nvPr/>
          </p:nvSpPr>
          <p:spPr>
            <a:xfrm>
              <a:off x="2110086" y="2155792"/>
              <a:ext cx="5400000" cy="7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800">
                  <a:solidFill>
                    <a:srgbClr val="13224B"/>
                  </a:solidFill>
                  <a:latin typeface="Microsoft JhengHei"/>
                  <a:ea typeface="Microsoft JhengHei"/>
                  <a:cs typeface="Microsoft JhengHei"/>
                  <a:sym typeface="Microsoft JhengHei"/>
                </a:rPr>
                <a:t>http://hscc.cs.nthu.edu.tw/~sheujp/module/wireless_network_2025/Smart_Trash_Can_Design_and_Application.pdf</a:t>
              </a:r>
              <a:endParaRPr/>
            </a:p>
          </p:txBody>
        </p:sp>
      </p:grpSp>
      <p:grpSp>
        <p:nvGrpSpPr>
          <p:cNvPr id="105" name="Google Shape;105;p2"/>
          <p:cNvGrpSpPr/>
          <p:nvPr/>
        </p:nvGrpSpPr>
        <p:grpSpPr>
          <a:xfrm>
            <a:off x="1423886" y="3554182"/>
            <a:ext cx="6086200" cy="720000"/>
            <a:chOff x="1423886" y="3465311"/>
            <a:chExt cx="6086200" cy="720000"/>
          </a:xfrm>
        </p:grpSpPr>
        <p:grpSp>
          <p:nvGrpSpPr>
            <p:cNvPr id="106" name="Google Shape;106;p2"/>
            <p:cNvGrpSpPr/>
            <p:nvPr/>
          </p:nvGrpSpPr>
          <p:grpSpPr>
            <a:xfrm>
              <a:off x="1423886" y="3601092"/>
              <a:ext cx="448438" cy="448438"/>
              <a:chOff x="737685" y="3322889"/>
              <a:chExt cx="448438" cy="448438"/>
            </a:xfrm>
          </p:grpSpPr>
          <p:sp>
            <p:nvSpPr>
              <p:cNvPr id="107" name="Google Shape;107;p2"/>
              <p:cNvSpPr/>
              <p:nvPr/>
            </p:nvSpPr>
            <p:spPr>
              <a:xfrm>
                <a:off x="737685" y="3322889"/>
                <a:ext cx="448438" cy="4484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327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2"/>
              <p:cNvSpPr/>
              <p:nvPr/>
            </p:nvSpPr>
            <p:spPr>
              <a:xfrm>
                <a:off x="854585" y="3439789"/>
                <a:ext cx="214638" cy="2146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9" name="Google Shape;109;p2"/>
            <p:cNvSpPr txBox="1"/>
            <p:nvPr/>
          </p:nvSpPr>
          <p:spPr>
            <a:xfrm>
              <a:off x="2110086" y="3465311"/>
              <a:ext cx="5400000" cy="7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800">
                  <a:solidFill>
                    <a:srgbClr val="13224B"/>
                  </a:solidFill>
                  <a:latin typeface="Microsoft JhengHei"/>
                  <a:ea typeface="Microsoft JhengHei"/>
                  <a:cs typeface="Microsoft JhengHei"/>
                  <a:sym typeface="Microsoft JhengHei"/>
                </a:rPr>
                <a:t>Big Data Visualization</a:t>
              </a:r>
              <a:endParaRPr/>
            </a:p>
          </p:txBody>
        </p:sp>
      </p:grpSp>
      <p:grpSp>
        <p:nvGrpSpPr>
          <p:cNvPr id="110" name="Google Shape;110;p2"/>
          <p:cNvGrpSpPr/>
          <p:nvPr/>
        </p:nvGrpSpPr>
        <p:grpSpPr>
          <a:xfrm>
            <a:off x="1423886" y="4952572"/>
            <a:ext cx="6086200" cy="720000"/>
            <a:chOff x="1423886" y="4774831"/>
            <a:chExt cx="6086200" cy="720000"/>
          </a:xfrm>
        </p:grpSpPr>
        <p:grpSp>
          <p:nvGrpSpPr>
            <p:cNvPr id="111" name="Google Shape;111;p2"/>
            <p:cNvGrpSpPr/>
            <p:nvPr/>
          </p:nvGrpSpPr>
          <p:grpSpPr>
            <a:xfrm>
              <a:off x="1423886" y="4910612"/>
              <a:ext cx="448438" cy="448438"/>
              <a:chOff x="737685" y="4123180"/>
              <a:chExt cx="448438" cy="448438"/>
            </a:xfrm>
          </p:grpSpPr>
          <p:sp>
            <p:nvSpPr>
              <p:cNvPr id="112" name="Google Shape;112;p2"/>
              <p:cNvSpPr/>
              <p:nvPr/>
            </p:nvSpPr>
            <p:spPr>
              <a:xfrm>
                <a:off x="737685" y="4123180"/>
                <a:ext cx="448438" cy="4484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327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2"/>
              <p:cNvSpPr/>
              <p:nvPr/>
            </p:nvSpPr>
            <p:spPr>
              <a:xfrm>
                <a:off x="854585" y="4240080"/>
                <a:ext cx="214638" cy="214638"/>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4" name="Google Shape;114;p2"/>
            <p:cNvSpPr txBox="1"/>
            <p:nvPr/>
          </p:nvSpPr>
          <p:spPr>
            <a:xfrm>
              <a:off x="2110086" y="4774831"/>
              <a:ext cx="5400000" cy="7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800">
                  <a:solidFill>
                    <a:srgbClr val="13224B"/>
                  </a:solidFill>
                  <a:latin typeface="Microsoft JhengHei"/>
                  <a:ea typeface="Microsoft JhengHei"/>
                  <a:cs typeface="Microsoft JhengHei"/>
                  <a:sym typeface="Microsoft JhengHei"/>
                </a:rPr>
                <a:t>Methods, Techniques, and Tools for Big Data Visualization</a:t>
              </a:r>
              <a:endParaRPr/>
            </a:p>
          </p:txBody>
        </p:sp>
      </p:grpSp>
      <p:sp>
        <p:nvSpPr>
          <p:cNvPr id="115" name="Google Shape;115;p2"/>
          <p:cNvSpPr/>
          <p:nvPr/>
        </p:nvSpPr>
        <p:spPr>
          <a:xfrm rot="8681927">
            <a:off x="8464545" y="2837449"/>
            <a:ext cx="3232047" cy="2743200"/>
          </a:xfrm>
          <a:custGeom>
            <a:rect b="b" l="l" r="r" t="t"/>
            <a:pathLst>
              <a:path extrusionOk="0" h="2743200" w="3232047">
                <a:moveTo>
                  <a:pt x="0" y="0"/>
                </a:moveTo>
                <a:lnTo>
                  <a:pt x="3232048" y="0"/>
                </a:lnTo>
                <a:lnTo>
                  <a:pt x="3232048" y="2743200"/>
                </a:lnTo>
                <a:lnTo>
                  <a:pt x="0" y="27432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 name="Google Shape;1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3"/>
          <p:cNvSpPr/>
          <p:nvPr/>
        </p:nvSpPr>
        <p:spPr>
          <a:xfrm>
            <a:off x="10352639" y="-363261"/>
            <a:ext cx="2064028" cy="2098123"/>
          </a:xfrm>
          <a:custGeom>
            <a:rect b="b" l="l" r="r" t="t"/>
            <a:pathLst>
              <a:path extrusionOk="0" h="2098123" w="2064028">
                <a:moveTo>
                  <a:pt x="0" y="0"/>
                </a:moveTo>
                <a:lnTo>
                  <a:pt x="2064029" y="0"/>
                </a:lnTo>
                <a:lnTo>
                  <a:pt x="2064029"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3"/>
          <p:cNvSpPr/>
          <p:nvPr/>
        </p:nvSpPr>
        <p:spPr>
          <a:xfrm rot="-2574853">
            <a:off x="1192090" y="5863432"/>
            <a:ext cx="2449838" cy="2449838"/>
          </a:xfrm>
          <a:custGeom>
            <a:rect b="b" l="l" r="r" t="t"/>
            <a:pathLst>
              <a:path extrusionOk="0" h="2449838" w="2449838">
                <a:moveTo>
                  <a:pt x="0" y="0"/>
                </a:moveTo>
                <a:lnTo>
                  <a:pt x="2449839" y="0"/>
                </a:lnTo>
                <a:lnTo>
                  <a:pt x="2449839" y="2449838"/>
                </a:lnTo>
                <a:lnTo>
                  <a:pt x="0" y="244983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3"/>
          <p:cNvSpPr/>
          <p:nvPr/>
        </p:nvSpPr>
        <p:spPr>
          <a:xfrm>
            <a:off x="-570614" y="3592243"/>
            <a:ext cx="1371600" cy="1371600"/>
          </a:xfrm>
          <a:custGeom>
            <a:rect b="b" l="l" r="r" t="t"/>
            <a:pathLst>
              <a:path extrusionOk="0" h="1371600" w="1371600">
                <a:moveTo>
                  <a:pt x="0" y="0"/>
                </a:moveTo>
                <a:lnTo>
                  <a:pt x="1371600" y="0"/>
                </a:lnTo>
                <a:lnTo>
                  <a:pt x="1371600" y="1371600"/>
                </a:lnTo>
                <a:lnTo>
                  <a:pt x="0" y="13716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3"/>
          <p:cNvSpPr txBox="1"/>
          <p:nvPr/>
        </p:nvSpPr>
        <p:spPr>
          <a:xfrm>
            <a:off x="1596000" y="2512243"/>
            <a:ext cx="9000000" cy="10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0">
                <a:solidFill>
                  <a:srgbClr val="26459B"/>
                </a:solidFill>
                <a:latin typeface="Microsoft JhengHei"/>
                <a:ea typeface="Microsoft JhengHei"/>
                <a:cs typeface="Microsoft JhengHei"/>
                <a:sym typeface="Microsoft JhengHei"/>
              </a:rPr>
              <a:t>Big Data Analysis</a:t>
            </a:r>
            <a:endParaRPr/>
          </a:p>
        </p:txBody>
      </p:sp>
      <p:sp>
        <p:nvSpPr>
          <p:cNvPr id="125" name="Google Shape;125;p3"/>
          <p:cNvSpPr/>
          <p:nvPr/>
        </p:nvSpPr>
        <p:spPr>
          <a:xfrm rot="8681927">
            <a:off x="-815038" y="4519240"/>
            <a:ext cx="3232047" cy="2743200"/>
          </a:xfrm>
          <a:custGeom>
            <a:rect b="b" l="l" r="r" t="t"/>
            <a:pathLst>
              <a:path extrusionOk="0" h="2743200" w="3232047">
                <a:moveTo>
                  <a:pt x="0" y="0"/>
                </a:moveTo>
                <a:lnTo>
                  <a:pt x="3232047" y="0"/>
                </a:lnTo>
                <a:lnTo>
                  <a:pt x="3232047" y="2743200"/>
                </a:lnTo>
                <a:lnTo>
                  <a:pt x="0" y="274320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p:nvPr/>
        </p:nvSpPr>
        <p:spPr>
          <a:xfrm rot="5400000">
            <a:off x="11357044" y="2718976"/>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4"/>
          <p:cNvSpPr/>
          <p:nvPr/>
        </p:nvSpPr>
        <p:spPr>
          <a:xfrm rot="-5400000">
            <a:off x="584958" y="2719111"/>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 name="Google Shape;132;p4"/>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What Is Big Data?</a:t>
            </a:r>
            <a:endParaRPr/>
          </a:p>
        </p:txBody>
      </p:sp>
      <p:sp>
        <p:nvSpPr>
          <p:cNvPr id="133" name="Google Shape;13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一張含有 文字, 螢幕擷取畫面, 卡通, 設計 的圖片&#10;&#10;AI 產生的內容可能不正確。" id="134" name="Google Shape;134;p4">
            <a:hlinkClick r:id="rId3"/>
          </p:cNvPr>
          <p:cNvPicPr preferRelativeResize="0"/>
          <p:nvPr/>
        </p:nvPicPr>
        <p:blipFill rotWithShape="1">
          <a:blip r:embed="rId4">
            <a:alphaModFix/>
          </a:blip>
          <a:srcRect b="0" l="0" r="0" t="0"/>
          <a:stretch/>
        </p:blipFill>
        <p:spPr>
          <a:xfrm>
            <a:off x="2496000" y="1660582"/>
            <a:ext cx="7200000" cy="40690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5"/>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0" name="Google Shape;140;p5"/>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1" name="Google Shape;141;p5"/>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000" lvl="0" marL="342000" marR="0" rtl="0" algn="l">
              <a:lnSpc>
                <a:spcPct val="120000"/>
              </a:lnSpc>
              <a:spcBef>
                <a:spcPts val="0"/>
              </a:spcBef>
              <a:spcAft>
                <a:spcPts val="0"/>
              </a:spcAft>
              <a:buClr>
                <a:srgbClr val="000000"/>
              </a:buClr>
              <a:buSzPts val="2200"/>
              <a:buFont typeface="Noto Sans Symbols"/>
              <a:buChar char="❑"/>
            </a:pPr>
            <a:r>
              <a:rPr b="1" i="0" lang="en-US" sz="2200" u="none" cap="none" strike="noStrike">
                <a:solidFill>
                  <a:srgbClr val="000000"/>
                </a:solidFill>
                <a:latin typeface="Times New Roman"/>
                <a:ea typeface="Times New Roman"/>
                <a:cs typeface="Times New Roman"/>
                <a:sym typeface="Times New Roman"/>
              </a:rPr>
              <a:t>Big Data Analysis</a:t>
            </a:r>
            <a:br>
              <a:rPr b="0" i="0" lang="en-US" sz="2200" u="none" cap="none" strike="noStrike">
                <a:solidFill>
                  <a:srgbClr val="000000"/>
                </a:solidFill>
                <a:latin typeface="Times New Roman"/>
                <a:ea typeface="Times New Roman"/>
                <a:cs typeface="Times New Roman"/>
                <a:sym typeface="Times New Roman"/>
              </a:rPr>
            </a:br>
            <a:r>
              <a:rPr lang="en-US" sz="2200">
                <a:solidFill>
                  <a:srgbClr val="000000"/>
                </a:solidFill>
                <a:latin typeface="Times New Roman"/>
                <a:ea typeface="Times New Roman"/>
                <a:cs typeface="Times New Roman"/>
                <a:sym typeface="Times New Roman"/>
              </a:rPr>
              <a:t>The process of handling, analyzing, and extracting valuable insights, trends, patterns, and relationships from large, complex, and diverse datasets.</a:t>
            </a:r>
            <a:endParaRPr/>
          </a:p>
          <a:p>
            <a:pPr indent="-342000" lvl="0" marL="342000" marR="0" rtl="0" algn="l">
              <a:lnSpc>
                <a:spcPct val="120000"/>
              </a:lnSpc>
              <a:spcBef>
                <a:spcPts val="440"/>
              </a:spcBef>
              <a:spcAft>
                <a:spcPts val="0"/>
              </a:spcAft>
              <a:buNone/>
            </a:pPr>
            <a:r>
              <a:t/>
            </a:r>
            <a:endParaRPr b="0" i="0" sz="2200" u="none" cap="none" strike="noStrike">
              <a:solidFill>
                <a:srgbClr val="000000"/>
              </a:solidFill>
              <a:latin typeface="Times New Roman"/>
              <a:ea typeface="Times New Roman"/>
              <a:cs typeface="Times New Roman"/>
              <a:sym typeface="Times New Roman"/>
            </a:endParaRPr>
          </a:p>
          <a:p>
            <a:pPr indent="-342000" lvl="0" marL="342000" marR="0" rtl="0" algn="l">
              <a:lnSpc>
                <a:spcPct val="120000"/>
              </a:lnSpc>
              <a:spcBef>
                <a:spcPts val="440"/>
              </a:spcBef>
              <a:spcAft>
                <a:spcPts val="0"/>
              </a:spcAft>
              <a:buClr>
                <a:srgbClr val="000000"/>
              </a:buClr>
              <a:buSzPts val="2200"/>
              <a:buFont typeface="Noto Sans Symbols"/>
              <a:buChar char="❑"/>
            </a:pPr>
            <a:r>
              <a:rPr b="1" lang="en-US" sz="2200">
                <a:solidFill>
                  <a:srgbClr val="000000"/>
                </a:solidFill>
                <a:latin typeface="Times New Roman"/>
                <a:ea typeface="Times New Roman"/>
                <a:cs typeface="Times New Roman"/>
                <a:sym typeface="Times New Roman"/>
              </a:rPr>
              <a:t>Goal</a:t>
            </a:r>
            <a:br>
              <a:rPr lang="en-US" sz="2200">
                <a:solidFill>
                  <a:srgbClr val="000000"/>
                </a:solidFill>
                <a:latin typeface="Times New Roman"/>
                <a:ea typeface="Times New Roman"/>
                <a:cs typeface="Times New Roman"/>
                <a:sym typeface="Times New Roman"/>
              </a:rPr>
            </a:br>
            <a:r>
              <a:rPr lang="en-US" sz="2200">
                <a:solidFill>
                  <a:srgbClr val="000000"/>
                </a:solidFill>
                <a:latin typeface="Times New Roman"/>
                <a:ea typeface="Times New Roman"/>
                <a:cs typeface="Times New Roman"/>
                <a:sym typeface="Times New Roman"/>
              </a:rPr>
              <a:t>To extract useful information from data that supports decision-making and predicts future developments.</a:t>
            </a:r>
            <a:endParaRPr/>
          </a:p>
        </p:txBody>
      </p:sp>
      <p:sp>
        <p:nvSpPr>
          <p:cNvPr id="142" name="Google Shape;14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3" name="Google Shape;143;p5"/>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Definition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6"/>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 name="Google Shape;149;p6"/>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 name="Google Shape;150;p6"/>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2" name="Google Shape;152;p6"/>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Characteristics（1／3）</a:t>
            </a:r>
            <a:endParaRPr/>
          </a:p>
        </p:txBody>
      </p:sp>
      <p:sp>
        <p:nvSpPr>
          <p:cNvPr id="153" name="Google Shape;153;p6"/>
          <p:cNvSpPr txBox="1"/>
          <p:nvPr/>
        </p:nvSpPr>
        <p:spPr>
          <a:xfrm>
            <a:off x="820314" y="1681475"/>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Volume</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Big data involves a massive amount of data, often reaching petabytes (PB) or exabytes (EB), beyond the capability of traditional data processing tools.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Social media platforms generate billions of pieces of data daily.</a:t>
            </a:r>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Velocity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Big data is produced and updated in real-time, requiring immediate processing and analysis.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Stock market data changes rapidly and needs to be analyzed in real-time for decision-making.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 name="Google Shape;159;p7"/>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 name="Google Shape;160;p7"/>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 name="Google Shape;16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2" name="Google Shape;162;p7"/>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Characteristics（2／3）</a:t>
            </a:r>
            <a:endParaRPr/>
          </a:p>
        </p:txBody>
      </p:sp>
      <p:sp>
        <p:nvSpPr>
          <p:cNvPr id="163" name="Google Shape;163;p7"/>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Variety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Big data comes in various formats, including structured data (like relational databases), semi-structured data (such as JSON or XML), and unstructured data (like text, images, and videos).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 A business collects data from customer transactions, social media feedback, and customer service interactions.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p:nvPr/>
        </p:nvSpPr>
        <p:spPr>
          <a:xfrm rot="5400000">
            <a:off x="11357044" y="2718976"/>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 name="Google Shape;169;p8"/>
          <p:cNvSpPr/>
          <p:nvPr/>
        </p:nvSpPr>
        <p:spPr>
          <a:xfrm rot="-5400000">
            <a:off x="584958" y="2719111"/>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0" name="Google Shape;170;p8"/>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What is Big Data Analytics?</a:t>
            </a:r>
            <a:endParaRPr/>
          </a:p>
        </p:txBody>
      </p:sp>
      <p:sp>
        <p:nvSpPr>
          <p:cNvPr id="171" name="Google Shape;1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一張含有 螢幕擷取畫面, Rectangle, 設計 的圖片&#10;&#10;AI 產生的內容可能不正確。" id="172" name="Google Shape;172;p8">
            <a:hlinkClick r:id="rId3"/>
          </p:cNvPr>
          <p:cNvPicPr preferRelativeResize="0"/>
          <p:nvPr/>
        </p:nvPicPr>
        <p:blipFill rotWithShape="1">
          <a:blip r:embed="rId4">
            <a:alphaModFix/>
          </a:blip>
          <a:srcRect b="0" l="0" r="0" t="0"/>
          <a:stretch/>
        </p:blipFill>
        <p:spPr>
          <a:xfrm>
            <a:off x="2496000" y="1660582"/>
            <a:ext cx="7200000" cy="40690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9"/>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8" name="Google Shape;178;p9"/>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9"/>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 name="Google Shape;18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1" name="Google Shape;181;p9"/>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Characteristics（3／3）</a:t>
            </a:r>
            <a:endParaRPr/>
          </a:p>
        </p:txBody>
      </p:sp>
      <p:sp>
        <p:nvSpPr>
          <p:cNvPr id="182" name="Google Shape;182;p9"/>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Veracity</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Big data has varying degrees of accuracy and reliability, </a:t>
            </a:r>
            <a:br>
              <a:rPr b="0" i="0" lang="en-US" sz="2200" u="none" cap="none" strike="noStrike">
                <a:solidFill>
                  <a:schemeClr val="dk1"/>
                </a:solidFill>
                <a:latin typeface="Times New Roman"/>
                <a:ea typeface="Times New Roman"/>
                <a:cs typeface="Times New Roman"/>
                <a:sym typeface="Times New Roman"/>
              </a:rPr>
            </a:br>
            <a:r>
              <a:rPr b="0" i="0" lang="en-US" sz="2200" u="none" cap="none" strike="noStrike">
                <a:solidFill>
                  <a:schemeClr val="dk1"/>
                </a:solidFill>
                <a:latin typeface="Times New Roman"/>
                <a:ea typeface="Times New Roman"/>
                <a:cs typeface="Times New Roman"/>
                <a:sym typeface="Times New Roman"/>
              </a:rPr>
              <a:t>requiring data cleaning and validation before analysis.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Web-scraped data might contain errors, requiring cleanup to ensure valid analysis.</a:t>
            </a:r>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Value</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The primary goal of big data analysis is to extract valuable insights from the data to support business decisions, improve operations, and uncover opportunities.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Analyzing customer behavior data helps businesses improve sales strategies.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0"/>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 name="Google Shape;18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9" name="Google Shape;189;p10"/>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Real-life Applications（1／2）</a:t>
            </a:r>
            <a:endParaRPr/>
          </a:p>
        </p:txBody>
      </p:sp>
      <p:grpSp>
        <p:nvGrpSpPr>
          <p:cNvPr id="190" name="Google Shape;190;p10"/>
          <p:cNvGrpSpPr/>
          <p:nvPr/>
        </p:nvGrpSpPr>
        <p:grpSpPr>
          <a:xfrm>
            <a:off x="944000" y="1201204"/>
            <a:ext cx="10304000" cy="4987828"/>
            <a:chOff x="944000" y="1201204"/>
            <a:chExt cx="10304000" cy="4987828"/>
          </a:xfrm>
        </p:grpSpPr>
        <p:grpSp>
          <p:nvGrpSpPr>
            <p:cNvPr id="191" name="Google Shape;191;p10"/>
            <p:cNvGrpSpPr/>
            <p:nvPr/>
          </p:nvGrpSpPr>
          <p:grpSpPr>
            <a:xfrm>
              <a:off x="944000" y="1201204"/>
              <a:ext cx="4680000" cy="4987828"/>
              <a:chOff x="1398000" y="1201204"/>
              <a:chExt cx="4680000" cy="4987828"/>
            </a:xfrm>
          </p:grpSpPr>
          <p:sp>
            <p:nvSpPr>
              <p:cNvPr descr="廣告" id="192" name="Google Shape;192;p10"/>
              <p:cNvSpPr/>
              <p:nvPr/>
            </p:nvSpPr>
            <p:spPr>
              <a:xfrm>
                <a:off x="2982000" y="1201204"/>
                <a:ext cx="1512000" cy="1512000"/>
              </a:xfrm>
              <a:prstGeom prst="rect">
                <a:avLst/>
              </a:prstGeom>
              <a:blipFill rotWithShape="1">
                <a:blip r:embed="rId4">
                  <a:alphaModFix/>
                </a:blip>
                <a:stretch>
                  <a:fillRect b="0" l="0" r="0" t="0"/>
                </a:stretch>
              </a:blip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3" name="Google Shape;193;p10"/>
              <p:cNvSpPr/>
              <p:nvPr/>
            </p:nvSpPr>
            <p:spPr>
              <a:xfrm>
                <a:off x="1398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en-US" sz="2200">
                    <a:solidFill>
                      <a:schemeClr val="dk1"/>
                    </a:solidFill>
                    <a:latin typeface="Times New Roman"/>
                    <a:ea typeface="Times New Roman"/>
                    <a:cs typeface="Times New Roman"/>
                    <a:sym typeface="Times New Roman"/>
                  </a:rPr>
                  <a:t>Social Media Analysis</a:t>
                </a:r>
                <a:endParaRPr sz="2200">
                  <a:solidFill>
                    <a:schemeClr val="dk1"/>
                  </a:solidFill>
                  <a:latin typeface="Times New Roman"/>
                  <a:ea typeface="Times New Roman"/>
                  <a:cs typeface="Times New Roman"/>
                  <a:sym typeface="Times New Roman"/>
                </a:endParaRPr>
              </a:p>
            </p:txBody>
          </p:sp>
          <p:sp>
            <p:nvSpPr>
              <p:cNvPr id="194" name="Google Shape;194;p10"/>
              <p:cNvSpPr/>
              <p:nvPr/>
            </p:nvSpPr>
            <p:spPr>
              <a:xfrm>
                <a:off x="1398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just">
                  <a:lnSpc>
                    <a:spcPct val="100000"/>
                  </a:lnSpc>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Businesses use data from social media platforms to target marketing efforts and understand consumer preferences.</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Example</a:t>
                </a:r>
                <a:br>
                  <a:rPr lang="en-US" sz="2200">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Analyzing customer comments to adjust product strategies and improve offerings.</a:t>
                </a:r>
                <a:endParaRPr sz="2200">
                  <a:solidFill>
                    <a:schemeClr val="dk1"/>
                  </a:solidFill>
                  <a:latin typeface="Times New Roman"/>
                  <a:ea typeface="Times New Roman"/>
                  <a:cs typeface="Times New Roman"/>
                  <a:sym typeface="Times New Roman"/>
                </a:endParaRPr>
              </a:p>
            </p:txBody>
          </p:sp>
        </p:grpSp>
        <p:grpSp>
          <p:nvGrpSpPr>
            <p:cNvPr id="195" name="Google Shape;195;p10"/>
            <p:cNvGrpSpPr/>
            <p:nvPr/>
          </p:nvGrpSpPr>
          <p:grpSpPr>
            <a:xfrm>
              <a:off x="6568000" y="1201204"/>
              <a:ext cx="4680000" cy="4987828"/>
              <a:chOff x="6474000" y="1201204"/>
              <a:chExt cx="4680000" cy="4987828"/>
            </a:xfrm>
          </p:grpSpPr>
          <p:sp>
            <p:nvSpPr>
              <p:cNvPr descr="聽診器" id="196" name="Google Shape;196;p10"/>
              <p:cNvSpPr/>
              <p:nvPr/>
            </p:nvSpPr>
            <p:spPr>
              <a:xfrm>
                <a:off x="8058000" y="1201204"/>
                <a:ext cx="1512000" cy="1512000"/>
              </a:xfrm>
              <a:prstGeom prst="rect">
                <a:avLst/>
              </a:prstGeom>
              <a:blipFill rotWithShape="1">
                <a:blip r:embed="rId5">
                  <a:alphaModFix/>
                </a:blip>
                <a:stretch>
                  <a:fillRect b="0" l="0" r="0" t="0"/>
                </a:stretch>
              </a:blip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7" name="Google Shape;197;p10"/>
              <p:cNvSpPr/>
              <p:nvPr/>
            </p:nvSpPr>
            <p:spPr>
              <a:xfrm>
                <a:off x="6474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en-US" sz="2200">
                    <a:solidFill>
                      <a:schemeClr val="dk1"/>
                    </a:solidFill>
                    <a:latin typeface="Times New Roman"/>
                    <a:ea typeface="Times New Roman"/>
                    <a:cs typeface="Times New Roman"/>
                    <a:sym typeface="Times New Roman"/>
                  </a:rPr>
                  <a:t>Healthcare</a:t>
                </a:r>
                <a:endParaRPr sz="2200">
                  <a:solidFill>
                    <a:schemeClr val="dk1"/>
                  </a:solidFill>
                  <a:latin typeface="Times New Roman"/>
                  <a:ea typeface="Times New Roman"/>
                  <a:cs typeface="Times New Roman"/>
                  <a:sym typeface="Times New Roman"/>
                </a:endParaRPr>
              </a:p>
            </p:txBody>
          </p:sp>
          <p:sp>
            <p:nvSpPr>
              <p:cNvPr id="198" name="Google Shape;198;p10"/>
              <p:cNvSpPr/>
              <p:nvPr/>
            </p:nvSpPr>
            <p:spPr>
              <a:xfrm>
                <a:off x="6474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just">
                  <a:lnSpc>
                    <a:spcPct val="100000"/>
                  </a:lnSpc>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Big data analysis helps predict disease risks and improve treatment outcomes by analyzing patient health data.</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Example</a:t>
                </a:r>
                <a:br>
                  <a:rPr lang="en-US" sz="2200">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Healthcare organizations use big data for early disease detection and personalized treatment.</a:t>
                </a:r>
                <a:endParaRPr sz="2200">
                  <a:solidFill>
                    <a:schemeClr val="dk1"/>
                  </a:solidFill>
                  <a:latin typeface="Times New Roman"/>
                  <a:ea typeface="Times New Roman"/>
                  <a:cs typeface="Times New Roman"/>
                  <a:sym typeface="Times New Roman"/>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1"/>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5" name="Google Shape;205;p11"/>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Real-life Applications（2／2）</a:t>
            </a:r>
            <a:endParaRPr/>
          </a:p>
        </p:txBody>
      </p:sp>
      <p:grpSp>
        <p:nvGrpSpPr>
          <p:cNvPr id="206" name="Google Shape;206;p11"/>
          <p:cNvGrpSpPr/>
          <p:nvPr/>
        </p:nvGrpSpPr>
        <p:grpSpPr>
          <a:xfrm>
            <a:off x="944000" y="1201205"/>
            <a:ext cx="10304000" cy="4987828"/>
            <a:chOff x="944000" y="935086"/>
            <a:chExt cx="10304000" cy="4987828"/>
          </a:xfrm>
        </p:grpSpPr>
        <p:grpSp>
          <p:nvGrpSpPr>
            <p:cNvPr id="207" name="Google Shape;207;p11"/>
            <p:cNvGrpSpPr/>
            <p:nvPr/>
          </p:nvGrpSpPr>
          <p:grpSpPr>
            <a:xfrm>
              <a:off x="944000" y="935086"/>
              <a:ext cx="4680000" cy="4987828"/>
              <a:chOff x="1398000" y="1201204"/>
              <a:chExt cx="4680000" cy="4987828"/>
            </a:xfrm>
          </p:grpSpPr>
          <p:sp>
            <p:nvSpPr>
              <p:cNvPr descr="城市" id="208" name="Google Shape;208;p11"/>
              <p:cNvSpPr/>
              <p:nvPr/>
            </p:nvSpPr>
            <p:spPr>
              <a:xfrm>
                <a:off x="2982000" y="1201204"/>
                <a:ext cx="1512000" cy="1512000"/>
              </a:xfrm>
              <a:prstGeom prst="rect">
                <a:avLst/>
              </a:prstGeom>
              <a:blipFill rotWithShape="1">
                <a:blip r:embed="rId4">
                  <a:alphaModFix/>
                </a:blip>
                <a:stretch>
                  <a:fillRect b="0" l="0" r="0" t="0"/>
                </a:stretch>
              </a:blip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9" name="Google Shape;209;p11"/>
              <p:cNvSpPr/>
              <p:nvPr/>
            </p:nvSpPr>
            <p:spPr>
              <a:xfrm>
                <a:off x="1398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en-US" sz="2200">
                    <a:solidFill>
                      <a:schemeClr val="dk1"/>
                    </a:solidFill>
                    <a:latin typeface="Times New Roman"/>
                    <a:ea typeface="Times New Roman"/>
                    <a:cs typeface="Times New Roman"/>
                    <a:sym typeface="Times New Roman"/>
                  </a:rPr>
                  <a:t>Smart Cities and Traffic Management</a:t>
                </a:r>
                <a:endParaRPr sz="2200">
                  <a:solidFill>
                    <a:schemeClr val="dk1"/>
                  </a:solidFill>
                  <a:latin typeface="Times New Roman"/>
                  <a:ea typeface="Times New Roman"/>
                  <a:cs typeface="Times New Roman"/>
                  <a:sym typeface="Times New Roman"/>
                </a:endParaRPr>
              </a:p>
            </p:txBody>
          </p:sp>
          <p:sp>
            <p:nvSpPr>
              <p:cNvPr id="210" name="Google Shape;210;p11"/>
              <p:cNvSpPr/>
              <p:nvPr/>
            </p:nvSpPr>
            <p:spPr>
              <a:xfrm>
                <a:off x="1398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Big data analysis helps manage city infrastructure, such as traffic, energy consumption, and public services.</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Example</a:t>
                </a:r>
                <a:br>
                  <a:rPr lang="en-US" sz="2200">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Smart traffic systems adjust traffic signals in real-time based on traffic flow to reduce congestion.</a:t>
                </a:r>
                <a:endParaRPr sz="2200">
                  <a:solidFill>
                    <a:schemeClr val="dk1"/>
                  </a:solidFill>
                  <a:latin typeface="Times New Roman"/>
                  <a:ea typeface="Times New Roman"/>
                  <a:cs typeface="Times New Roman"/>
                  <a:sym typeface="Times New Roman"/>
                </a:endParaRPr>
              </a:p>
            </p:txBody>
          </p:sp>
        </p:grpSp>
        <p:grpSp>
          <p:nvGrpSpPr>
            <p:cNvPr id="211" name="Google Shape;211;p11"/>
            <p:cNvGrpSpPr/>
            <p:nvPr/>
          </p:nvGrpSpPr>
          <p:grpSpPr>
            <a:xfrm>
              <a:off x="6568000" y="935086"/>
              <a:ext cx="4680000" cy="4987828"/>
              <a:chOff x="6474000" y="1201204"/>
              <a:chExt cx="4680000" cy="4987828"/>
            </a:xfrm>
          </p:grpSpPr>
          <p:sp>
            <p:nvSpPr>
              <p:cNvPr descr="銀行" id="212" name="Google Shape;212;p11"/>
              <p:cNvSpPr/>
              <p:nvPr/>
            </p:nvSpPr>
            <p:spPr>
              <a:xfrm>
                <a:off x="8058000" y="1201204"/>
                <a:ext cx="1512000" cy="1512000"/>
              </a:xfrm>
              <a:prstGeom prst="rect">
                <a:avLst/>
              </a:prstGeom>
              <a:blipFill rotWithShape="1">
                <a:blip r:embed="rId5">
                  <a:alphaModFix/>
                </a:blip>
                <a:stretch>
                  <a:fillRect b="0" l="0" r="0" t="0"/>
                </a:stretch>
              </a:blip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3" name="Google Shape;213;p11"/>
              <p:cNvSpPr/>
              <p:nvPr/>
            </p:nvSpPr>
            <p:spPr>
              <a:xfrm>
                <a:off x="6474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en-US" sz="2200">
                    <a:solidFill>
                      <a:schemeClr val="dk1"/>
                    </a:solidFill>
                    <a:latin typeface="Times New Roman"/>
                    <a:ea typeface="Times New Roman"/>
                    <a:cs typeface="Times New Roman"/>
                    <a:sym typeface="Times New Roman"/>
                  </a:rPr>
                  <a:t>Financial Services</a:t>
                </a:r>
                <a:endParaRPr sz="2200">
                  <a:solidFill>
                    <a:schemeClr val="dk1"/>
                  </a:solidFill>
                  <a:latin typeface="Times New Roman"/>
                  <a:ea typeface="Times New Roman"/>
                  <a:cs typeface="Times New Roman"/>
                  <a:sym typeface="Times New Roman"/>
                </a:endParaRPr>
              </a:p>
            </p:txBody>
          </p:sp>
          <p:sp>
            <p:nvSpPr>
              <p:cNvPr id="214" name="Google Shape;214;p11"/>
              <p:cNvSpPr/>
              <p:nvPr/>
            </p:nvSpPr>
            <p:spPr>
              <a:xfrm>
                <a:off x="6474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In finance, big data helps assess credit risk, detect fraud, and make investment decisions.</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Example</a:t>
                </a:r>
                <a:br>
                  <a:rPr lang="en-US" sz="2200">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Banks use big data to analyze customers' spending behaviors and offer personalized loan products.</a:t>
                </a:r>
                <a:endParaRPr sz="2200">
                  <a:solidFill>
                    <a:schemeClr val="dk1"/>
                  </a:solidFill>
                  <a:latin typeface="Times New Roman"/>
                  <a:ea typeface="Times New Roman"/>
                  <a:cs typeface="Times New Roman"/>
                  <a:sym typeface="Times New Roman"/>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2"/>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 name="Google Shape;220;p12"/>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 name="Google Shape;221;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2" name="Google Shape;222;p12"/>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Importance（1／2）</a:t>
            </a:r>
            <a:endParaRPr/>
          </a:p>
        </p:txBody>
      </p:sp>
      <p:sp>
        <p:nvSpPr>
          <p:cNvPr id="223" name="Google Shape;223;p12"/>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Improved Decision-Making</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Big data allows businesses to make data-driven decisions rather than relying </a:t>
            </a:r>
            <a:br>
              <a:rPr b="0" i="0" lang="en-US" sz="2200" u="none" cap="none" strike="noStrike">
                <a:solidFill>
                  <a:schemeClr val="dk1"/>
                </a:solidFill>
                <a:latin typeface="Times New Roman"/>
                <a:ea typeface="Times New Roman"/>
                <a:cs typeface="Times New Roman"/>
                <a:sym typeface="Times New Roman"/>
              </a:rPr>
            </a:br>
            <a:r>
              <a:rPr b="0" i="0" lang="en-US" sz="2200" u="none" cap="none" strike="noStrike">
                <a:solidFill>
                  <a:schemeClr val="dk1"/>
                </a:solidFill>
                <a:latin typeface="Times New Roman"/>
                <a:ea typeface="Times New Roman"/>
                <a:cs typeface="Times New Roman"/>
                <a:sym typeface="Times New Roman"/>
              </a:rPr>
              <a:t>on intuition or past experiences, improving operational efficiency.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Retailers analyze purchasing behaviors to optimize inventory management.</a:t>
            </a:r>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Enhanced Business Competitiveness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Big data helps identify market opportunities, optimize marketing strategies, and enhance business competitiveness.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E-commerce platforms recommend personalized products to users, boosting sales conversion rates.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3"/>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13"/>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1" name="Google Shape;231;p13"/>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Importance（2／2）</a:t>
            </a:r>
            <a:endParaRPr/>
          </a:p>
        </p:txBody>
      </p:sp>
      <p:sp>
        <p:nvSpPr>
          <p:cNvPr id="232" name="Google Shape;232;p13"/>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Creation of New Business Models and Opportunities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Big data analysis uncovers new business opportunities or product innovations that weren’t possible before.</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Location-based services provide real-time taxi booking services based on customer proximity.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4"/>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8" name="Google Shape;238;p14"/>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9" name="Google Shape;239;p14"/>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 name="Google Shape;24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241" name="Google Shape;241;p14"/>
          <p:cNvGrpSpPr/>
          <p:nvPr/>
        </p:nvGrpSpPr>
        <p:grpSpPr>
          <a:xfrm>
            <a:off x="820314" y="1326155"/>
            <a:ext cx="10800000" cy="5020388"/>
            <a:chOff x="0" y="9805"/>
            <a:chExt cx="10800000" cy="5020388"/>
          </a:xfrm>
        </p:grpSpPr>
        <p:sp>
          <p:nvSpPr>
            <p:cNvPr id="242" name="Google Shape;242;p14"/>
            <p:cNvSpPr/>
            <p:nvPr/>
          </p:nvSpPr>
          <p:spPr>
            <a:xfrm>
              <a:off x="0" y="126450"/>
              <a:ext cx="10800000" cy="2154599"/>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txBox="1"/>
            <p:nvPr/>
          </p:nvSpPr>
          <p:spPr>
            <a:xfrm>
              <a:off x="0" y="126450"/>
              <a:ext cx="10800000" cy="2154599"/>
            </a:xfrm>
            <a:prstGeom prst="rect">
              <a:avLst/>
            </a:prstGeom>
            <a:noFill/>
            <a:ln>
              <a:noFill/>
            </a:ln>
          </p:spPr>
          <p:txBody>
            <a:bodyPr anchorCtr="0" anchor="t" bIns="156450" lIns="838200" spcFirstLastPara="1" rIns="838200" wrap="square" tIns="749800">
              <a:noAutofit/>
            </a:bodyPr>
            <a:lstStyle/>
            <a:p>
              <a:pPr indent="-228600" lvl="1" marL="228600" marR="0" rtl="0" algn="l">
                <a:lnSpc>
                  <a:spcPct val="9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Protecting sensitive data is crucial to avoid data breaches or misuse.</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Example</a:t>
              </a:r>
              <a:endParaRPr b="0" i="0" sz="22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Social media platforms have faced data breaches, highlighting the need for stronger security measures.</a:t>
              </a:r>
              <a:endParaRPr b="0" i="0" sz="2200" u="none" cap="none" strike="noStrike">
                <a:solidFill>
                  <a:schemeClr val="dk1"/>
                </a:solidFill>
                <a:latin typeface="Times New Roman"/>
                <a:ea typeface="Times New Roman"/>
                <a:cs typeface="Times New Roman"/>
                <a:sym typeface="Times New Roman"/>
              </a:endParaRPr>
            </a:p>
          </p:txBody>
        </p:sp>
        <p:sp>
          <p:nvSpPr>
            <p:cNvPr id="244" name="Google Shape;244;p14"/>
            <p:cNvSpPr/>
            <p:nvPr/>
          </p:nvSpPr>
          <p:spPr>
            <a:xfrm>
              <a:off x="540000" y="9805"/>
              <a:ext cx="7199992" cy="648004"/>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txBox="1"/>
            <p:nvPr/>
          </p:nvSpPr>
          <p:spPr>
            <a:xfrm>
              <a:off x="571633" y="41438"/>
              <a:ext cx="7136726" cy="584738"/>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en-US" sz="2200">
                  <a:solidFill>
                    <a:schemeClr val="lt1"/>
                  </a:solidFill>
                  <a:latin typeface="Times New Roman"/>
                  <a:ea typeface="Times New Roman"/>
                  <a:cs typeface="Times New Roman"/>
                  <a:sym typeface="Times New Roman"/>
                </a:rPr>
                <a:t>Data Privacy and Security</a:t>
              </a:r>
              <a:endParaRPr b="1" sz="2200">
                <a:solidFill>
                  <a:schemeClr val="lt1"/>
                </a:solidFill>
                <a:latin typeface="Times New Roman"/>
                <a:ea typeface="Times New Roman"/>
                <a:cs typeface="Times New Roman"/>
                <a:sym typeface="Times New Roman"/>
              </a:endParaRPr>
            </a:p>
          </p:txBody>
        </p:sp>
        <p:sp>
          <p:nvSpPr>
            <p:cNvPr id="246" name="Google Shape;246;p14"/>
            <p:cNvSpPr/>
            <p:nvPr/>
          </p:nvSpPr>
          <p:spPr>
            <a:xfrm>
              <a:off x="0" y="2592094"/>
              <a:ext cx="10800000" cy="2438099"/>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txBox="1"/>
            <p:nvPr/>
          </p:nvSpPr>
          <p:spPr>
            <a:xfrm>
              <a:off x="0" y="2592094"/>
              <a:ext cx="10800000" cy="2438099"/>
            </a:xfrm>
            <a:prstGeom prst="rect">
              <a:avLst/>
            </a:prstGeom>
            <a:noFill/>
            <a:ln>
              <a:noFill/>
            </a:ln>
          </p:spPr>
          <p:txBody>
            <a:bodyPr anchorCtr="0" anchor="t" bIns="156450" lIns="838200" spcFirstLastPara="1" rIns="838200" wrap="square" tIns="749800">
              <a:noAutofit/>
            </a:bodyPr>
            <a:lstStyle/>
            <a:p>
              <a:pPr indent="-228600" lvl="1" marL="228600" marR="0" rtl="0" algn="l">
                <a:lnSpc>
                  <a:spcPct val="9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Ensuring data accuracy and quality is vital for valid analysis and decision-making.</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Example</a:t>
              </a:r>
              <a:endParaRPr b="0" i="0" sz="22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Inaccurate data can negatively impact predictive models and lead to incorrect business decisions.</a:t>
              </a:r>
              <a:endParaRPr b="0" i="0" sz="2200" u="none" cap="none" strike="noStrike">
                <a:solidFill>
                  <a:schemeClr val="dk1"/>
                </a:solidFill>
                <a:latin typeface="Times New Roman"/>
                <a:ea typeface="Times New Roman"/>
                <a:cs typeface="Times New Roman"/>
                <a:sym typeface="Times New Roman"/>
              </a:endParaRPr>
            </a:p>
          </p:txBody>
        </p:sp>
        <p:sp>
          <p:nvSpPr>
            <p:cNvPr id="248" name="Google Shape;248;p14"/>
            <p:cNvSpPr/>
            <p:nvPr/>
          </p:nvSpPr>
          <p:spPr>
            <a:xfrm>
              <a:off x="540000" y="2475450"/>
              <a:ext cx="7199992" cy="648004"/>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txBox="1"/>
            <p:nvPr/>
          </p:nvSpPr>
          <p:spPr>
            <a:xfrm>
              <a:off x="571633" y="2507083"/>
              <a:ext cx="7136726" cy="584738"/>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en-US" sz="2200">
                  <a:solidFill>
                    <a:schemeClr val="lt1"/>
                  </a:solidFill>
                  <a:latin typeface="Times New Roman"/>
                  <a:ea typeface="Times New Roman"/>
                  <a:cs typeface="Times New Roman"/>
                  <a:sym typeface="Times New Roman"/>
                </a:rPr>
                <a:t>Data Quality and Accuracy</a:t>
              </a:r>
              <a:endParaRPr b="1" sz="2200">
                <a:solidFill>
                  <a:schemeClr val="lt1"/>
                </a:solidFill>
                <a:latin typeface="Times New Roman"/>
                <a:ea typeface="Times New Roman"/>
                <a:cs typeface="Times New Roman"/>
                <a:sym typeface="Times New Roman"/>
              </a:endParaRPr>
            </a:p>
          </p:txBody>
        </p:sp>
      </p:grpSp>
      <p:sp>
        <p:nvSpPr>
          <p:cNvPr id="250" name="Google Shape;250;p14"/>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Challenges to Solve（1／2）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5"/>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 name="Google Shape;256;p15"/>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 name="Google Shape;257;p15"/>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8" name="Google Shape;25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9" name="Google Shape;259;p15"/>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Challenges to Solve（2／2）</a:t>
            </a:r>
            <a:endParaRPr/>
          </a:p>
        </p:txBody>
      </p:sp>
      <p:grpSp>
        <p:nvGrpSpPr>
          <p:cNvPr id="260" name="Google Shape;260;p15"/>
          <p:cNvGrpSpPr/>
          <p:nvPr/>
        </p:nvGrpSpPr>
        <p:grpSpPr>
          <a:xfrm>
            <a:off x="820314" y="1364231"/>
            <a:ext cx="10800000" cy="4944237"/>
            <a:chOff x="0" y="47881"/>
            <a:chExt cx="10800000" cy="4944237"/>
          </a:xfrm>
        </p:grpSpPr>
        <p:sp>
          <p:nvSpPr>
            <p:cNvPr id="261" name="Google Shape;261;p15"/>
            <p:cNvSpPr/>
            <p:nvPr/>
          </p:nvSpPr>
          <p:spPr>
            <a:xfrm>
              <a:off x="0" y="430200"/>
              <a:ext cx="10800000" cy="2041200"/>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
            <p:cNvSpPr txBox="1"/>
            <p:nvPr/>
          </p:nvSpPr>
          <p:spPr>
            <a:xfrm>
              <a:off x="0" y="430200"/>
              <a:ext cx="10800000" cy="2041200"/>
            </a:xfrm>
            <a:prstGeom prst="rect">
              <a:avLst/>
            </a:prstGeom>
            <a:noFill/>
            <a:ln>
              <a:noFill/>
            </a:ln>
          </p:spPr>
          <p:txBody>
            <a:bodyPr anchorCtr="0" anchor="t" bIns="156450" lIns="838200" spcFirstLastPara="1" rIns="838200" wrap="square" tIns="374900">
              <a:noAutofit/>
            </a:bodyPr>
            <a:lstStyle/>
            <a:p>
              <a:pPr indent="-228600" lvl="1" marL="228600" marR="0" rtl="0" algn="l">
                <a:lnSpc>
                  <a:spcPct val="9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Big data comes from diverse sources and formats, requiring integration and coordinated processing.</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Example</a:t>
              </a:r>
              <a:endParaRPr b="0" i="0" sz="22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Businesses face challenges in combining data from multiple systems (e.g., CRM, ERP, social media) for analysis.</a:t>
              </a:r>
              <a:endParaRPr b="0" i="0" sz="2200" u="none" cap="none" strike="noStrike">
                <a:solidFill>
                  <a:schemeClr val="dk1"/>
                </a:solidFill>
                <a:latin typeface="Times New Roman"/>
                <a:ea typeface="Times New Roman"/>
                <a:cs typeface="Times New Roman"/>
                <a:sym typeface="Times New Roman"/>
              </a:endParaRPr>
            </a:p>
          </p:txBody>
        </p:sp>
        <p:sp>
          <p:nvSpPr>
            <p:cNvPr id="263" name="Google Shape;263;p15"/>
            <p:cNvSpPr/>
            <p:nvPr/>
          </p:nvSpPr>
          <p:spPr>
            <a:xfrm>
              <a:off x="540000" y="47881"/>
              <a:ext cx="7199992" cy="647998"/>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txBox="1"/>
            <p:nvPr/>
          </p:nvSpPr>
          <p:spPr>
            <a:xfrm>
              <a:off x="571633" y="79514"/>
              <a:ext cx="7136726" cy="584732"/>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en-US" sz="2200">
                  <a:solidFill>
                    <a:schemeClr val="lt1"/>
                  </a:solidFill>
                  <a:latin typeface="Times New Roman"/>
                  <a:ea typeface="Times New Roman"/>
                  <a:cs typeface="Times New Roman"/>
                  <a:sym typeface="Times New Roman"/>
                </a:rPr>
                <a:t>Data Integration and Collaboration</a:t>
              </a:r>
              <a:endParaRPr b="1" sz="2200">
                <a:solidFill>
                  <a:schemeClr val="lt1"/>
                </a:solidFill>
                <a:latin typeface="Times New Roman"/>
                <a:ea typeface="Times New Roman"/>
                <a:cs typeface="Times New Roman"/>
                <a:sym typeface="Times New Roman"/>
              </a:endParaRPr>
            </a:p>
          </p:txBody>
        </p:sp>
        <p:sp>
          <p:nvSpPr>
            <p:cNvPr id="265" name="Google Shape;265;p15"/>
            <p:cNvSpPr/>
            <p:nvPr/>
          </p:nvSpPr>
          <p:spPr>
            <a:xfrm>
              <a:off x="0" y="2950918"/>
              <a:ext cx="10800000" cy="2041200"/>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
            <p:cNvSpPr txBox="1"/>
            <p:nvPr/>
          </p:nvSpPr>
          <p:spPr>
            <a:xfrm>
              <a:off x="0" y="2950918"/>
              <a:ext cx="10800000" cy="2041200"/>
            </a:xfrm>
            <a:prstGeom prst="rect">
              <a:avLst/>
            </a:prstGeom>
            <a:noFill/>
            <a:ln>
              <a:noFill/>
            </a:ln>
          </p:spPr>
          <p:txBody>
            <a:bodyPr anchorCtr="0" anchor="t" bIns="156450" lIns="838200" spcFirstLastPara="1" rIns="838200" wrap="square" tIns="374900">
              <a:noAutofit/>
            </a:bodyPr>
            <a:lstStyle/>
            <a:p>
              <a:pPr indent="-228600" lvl="1" marL="228600" marR="0" rtl="0" algn="l">
                <a:lnSpc>
                  <a:spcPct val="9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There is a growing demand for data scientists, analysts, and engineers with expertise in big data technologies.</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Example</a:t>
              </a:r>
              <a:endParaRPr b="0" i="0" sz="22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The shortage of skilled professionals in the big data field has created a high demand for qualified talent.</a:t>
              </a:r>
              <a:endParaRPr b="0" i="0" sz="2200" u="none" cap="none" strike="noStrike">
                <a:solidFill>
                  <a:schemeClr val="dk1"/>
                </a:solidFill>
                <a:latin typeface="Times New Roman"/>
                <a:ea typeface="Times New Roman"/>
                <a:cs typeface="Times New Roman"/>
                <a:sym typeface="Times New Roman"/>
              </a:endParaRPr>
            </a:p>
          </p:txBody>
        </p:sp>
        <p:sp>
          <p:nvSpPr>
            <p:cNvPr id="267" name="Google Shape;267;p15"/>
            <p:cNvSpPr/>
            <p:nvPr/>
          </p:nvSpPr>
          <p:spPr>
            <a:xfrm>
              <a:off x="540000" y="2568600"/>
              <a:ext cx="7199992" cy="647998"/>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5"/>
            <p:cNvSpPr txBox="1"/>
            <p:nvPr/>
          </p:nvSpPr>
          <p:spPr>
            <a:xfrm>
              <a:off x="571633" y="2600233"/>
              <a:ext cx="7136726" cy="584732"/>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en-US" sz="2200">
                  <a:solidFill>
                    <a:schemeClr val="lt1"/>
                  </a:solidFill>
                  <a:latin typeface="Times New Roman"/>
                  <a:ea typeface="Times New Roman"/>
                  <a:cs typeface="Times New Roman"/>
                  <a:sym typeface="Times New Roman"/>
                </a:rPr>
                <a:t>Skill and Talent Shortages</a:t>
              </a:r>
              <a:endParaRPr b="1" sz="22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6"/>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4" name="Google Shape;27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5" name="Google Shape;275;p16"/>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Summary</a:t>
            </a:r>
            <a:endParaRPr/>
          </a:p>
        </p:txBody>
      </p:sp>
      <p:sp>
        <p:nvSpPr>
          <p:cNvPr id="276" name="Google Shape;276;p16"/>
          <p:cNvSpPr txBox="1"/>
          <p:nvPr/>
        </p:nvSpPr>
        <p:spPr>
          <a:xfrm>
            <a:off x="1596000" y="1175119"/>
            <a:ext cx="9000000" cy="5040000"/>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Clr>
                <a:schemeClr val="dk1"/>
              </a:buClr>
              <a:buSzPts val="2200"/>
              <a:buFont typeface="Noto Sans Symbols"/>
              <a:buNone/>
            </a:pPr>
            <a:r>
              <a:rPr lang="en-US" sz="2200">
                <a:solidFill>
                  <a:schemeClr val="dk1"/>
                </a:solidFill>
                <a:latin typeface="Times New Roman"/>
                <a:ea typeface="Times New Roman"/>
                <a:cs typeface="Times New Roman"/>
                <a:sym typeface="Times New Roman"/>
              </a:rPr>
              <a:t>Big data analysis is a crucial technology that helps businesses improve efficiency, identify opportunities, and support decision-making across various industries. Despite challenges like data privacy, data quality, and the need for skilled professionals, ongoing technological advancements will continue to address these issues, making big data analysis even more integral to modern business strategies.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7"/>
          <p:cNvSpPr/>
          <p:nvPr/>
        </p:nvSpPr>
        <p:spPr>
          <a:xfrm>
            <a:off x="10352639" y="-363261"/>
            <a:ext cx="2064028" cy="2098123"/>
          </a:xfrm>
          <a:custGeom>
            <a:rect b="b" l="l" r="r" t="t"/>
            <a:pathLst>
              <a:path extrusionOk="0" h="2098123" w="2064028">
                <a:moveTo>
                  <a:pt x="0" y="0"/>
                </a:moveTo>
                <a:lnTo>
                  <a:pt x="2064029" y="0"/>
                </a:lnTo>
                <a:lnTo>
                  <a:pt x="2064029"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2" name="Google Shape;282;p17"/>
          <p:cNvSpPr/>
          <p:nvPr/>
        </p:nvSpPr>
        <p:spPr>
          <a:xfrm rot="-2574853">
            <a:off x="1192090" y="5863432"/>
            <a:ext cx="2449838" cy="2449838"/>
          </a:xfrm>
          <a:custGeom>
            <a:rect b="b" l="l" r="r" t="t"/>
            <a:pathLst>
              <a:path extrusionOk="0" h="2449838" w="2449838">
                <a:moveTo>
                  <a:pt x="0" y="0"/>
                </a:moveTo>
                <a:lnTo>
                  <a:pt x="2449839" y="0"/>
                </a:lnTo>
                <a:lnTo>
                  <a:pt x="2449839" y="2449838"/>
                </a:lnTo>
                <a:lnTo>
                  <a:pt x="0" y="244983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 name="Google Shape;283;p17"/>
          <p:cNvSpPr/>
          <p:nvPr/>
        </p:nvSpPr>
        <p:spPr>
          <a:xfrm>
            <a:off x="-570614" y="3592243"/>
            <a:ext cx="1371600" cy="1371600"/>
          </a:xfrm>
          <a:custGeom>
            <a:rect b="b" l="l" r="r" t="t"/>
            <a:pathLst>
              <a:path extrusionOk="0" h="1371600" w="1371600">
                <a:moveTo>
                  <a:pt x="0" y="0"/>
                </a:moveTo>
                <a:lnTo>
                  <a:pt x="1371600" y="0"/>
                </a:lnTo>
                <a:lnTo>
                  <a:pt x="1371600" y="1371600"/>
                </a:lnTo>
                <a:lnTo>
                  <a:pt x="0" y="13716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4" name="Google Shape;284;p17"/>
          <p:cNvSpPr txBox="1"/>
          <p:nvPr/>
        </p:nvSpPr>
        <p:spPr>
          <a:xfrm>
            <a:off x="1596000" y="2512243"/>
            <a:ext cx="9000000" cy="10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0">
                <a:solidFill>
                  <a:srgbClr val="26459B"/>
                </a:solidFill>
                <a:latin typeface="Microsoft JhengHei"/>
                <a:ea typeface="Microsoft JhengHei"/>
                <a:cs typeface="Microsoft JhengHei"/>
                <a:sym typeface="Microsoft JhengHei"/>
              </a:rPr>
              <a:t>Big Data Visualization</a:t>
            </a:r>
            <a:endParaRPr/>
          </a:p>
        </p:txBody>
      </p:sp>
      <p:sp>
        <p:nvSpPr>
          <p:cNvPr id="285" name="Google Shape;285;p17"/>
          <p:cNvSpPr/>
          <p:nvPr/>
        </p:nvSpPr>
        <p:spPr>
          <a:xfrm rot="8681927">
            <a:off x="-815038" y="4519240"/>
            <a:ext cx="3232047" cy="2743200"/>
          </a:xfrm>
          <a:custGeom>
            <a:rect b="b" l="l" r="r" t="t"/>
            <a:pathLst>
              <a:path extrusionOk="0" h="2743200" w="3232047">
                <a:moveTo>
                  <a:pt x="0" y="0"/>
                </a:moveTo>
                <a:lnTo>
                  <a:pt x="3232047" y="0"/>
                </a:lnTo>
                <a:lnTo>
                  <a:pt x="3232047" y="2743200"/>
                </a:lnTo>
                <a:lnTo>
                  <a:pt x="0" y="274320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8"/>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 name="Google Shape;291;p18"/>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2" name="Google Shape;29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3" name="Google Shape;293;p18"/>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Definition</a:t>
            </a:r>
            <a:endParaRPr/>
          </a:p>
        </p:txBody>
      </p:sp>
      <p:sp>
        <p:nvSpPr>
          <p:cNvPr id="294" name="Google Shape;294;p18"/>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l">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Big Data Visualization</a:t>
            </a:r>
            <a:br>
              <a:rPr lang="en-US" sz="2200">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The process of converting vast and complex datasets into graphs, charts, or dynamic dashboards to help users intuitively grasp trends, relationships, and anomalies within the data.</a:t>
            </a:r>
            <a:endParaRPr/>
          </a:p>
          <a:p>
            <a:pPr indent="-203200" lvl="0" marL="342900" marR="0" rtl="0" algn="l">
              <a:lnSpc>
                <a:spcPct val="120000"/>
              </a:lnSpc>
              <a:spcBef>
                <a:spcPts val="440"/>
              </a:spcBef>
              <a:spcAft>
                <a:spcPts val="0"/>
              </a:spcAft>
              <a:buClr>
                <a:schemeClr val="lt2"/>
              </a:buClr>
              <a:buSzPts val="2200"/>
              <a:buFont typeface="Noto Sans Symbols"/>
              <a:buNone/>
            </a:pPr>
            <a:r>
              <a:t/>
            </a:r>
            <a:endParaRPr b="1" sz="2200">
              <a:solidFill>
                <a:schemeClr val="dk1"/>
              </a:solidFill>
              <a:latin typeface="Times New Roman"/>
              <a:ea typeface="Times New Roman"/>
              <a:cs typeface="Times New Roman"/>
              <a:sym typeface="Times New Roman"/>
            </a:endParaRPr>
          </a:p>
          <a:p>
            <a:pPr indent="-342900" lvl="0" marL="342900" marR="0" rtl="0" algn="l">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Goal</a:t>
            </a:r>
            <a:br>
              <a:rPr lang="en-US" sz="2200">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To make complex data easily understandable, thereby supporting informed decision-making and problem-solving.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9"/>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0" name="Google Shape;300;p19"/>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1" name="Google Shape;301;p19"/>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2" name="Google Shape;30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3" name="Google Shape;303;p19"/>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Characteristics（1／3）</a:t>
            </a:r>
            <a:endParaRPr/>
          </a:p>
        </p:txBody>
      </p:sp>
      <p:sp>
        <p:nvSpPr>
          <p:cNvPr id="304" name="Google Shape;304;p19"/>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Intuitiveness</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Transforms abstract data into an easily comprehensible </a:t>
            </a:r>
            <a:br>
              <a:rPr b="0" i="0" lang="en-US" sz="2200" u="none" cap="none" strike="noStrike">
                <a:solidFill>
                  <a:schemeClr val="dk1"/>
                </a:solidFill>
                <a:latin typeface="Times New Roman"/>
                <a:ea typeface="Times New Roman"/>
                <a:cs typeface="Times New Roman"/>
                <a:sym typeface="Times New Roman"/>
              </a:rPr>
            </a:br>
            <a:r>
              <a:rPr b="0" i="0" lang="en-US" sz="2200" u="none" cap="none" strike="noStrike">
                <a:solidFill>
                  <a:schemeClr val="dk1"/>
                </a:solidFill>
                <a:latin typeface="Times New Roman"/>
                <a:ea typeface="Times New Roman"/>
                <a:cs typeface="Times New Roman"/>
                <a:sym typeface="Times New Roman"/>
              </a:rPr>
              <a:t>visual format, facilitating the identification of patterns and outliers.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A bar chart comparing sales across regions to quickly highlight top-performing areas.</a:t>
            </a:r>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Interactivity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Allows users to filter or zoom into specific data points to access more detailed information. </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Interactive dashboards enable users to click on indicators to view additional details.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0"/>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0" name="Google Shape;310;p20"/>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1" name="Google Shape;311;p20"/>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2" name="Google Shape;31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3" name="Google Shape;313;p20"/>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Characteristics（2／3）</a:t>
            </a:r>
            <a:endParaRPr/>
          </a:p>
        </p:txBody>
      </p:sp>
      <p:sp>
        <p:nvSpPr>
          <p:cNvPr id="314" name="Google Shape;314;p20"/>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Variety</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Supports multiple types of visual representations, such as </a:t>
            </a:r>
            <a:br>
              <a:rPr b="0" i="0" lang="en-US" sz="2200" u="none" cap="none" strike="noStrike">
                <a:solidFill>
                  <a:schemeClr val="dk1"/>
                </a:solidFill>
                <a:latin typeface="Times New Roman"/>
                <a:ea typeface="Times New Roman"/>
                <a:cs typeface="Times New Roman"/>
                <a:sym typeface="Times New Roman"/>
              </a:rPr>
            </a:br>
            <a:r>
              <a:rPr b="0" i="0" lang="en-US" sz="2200" u="none" cap="none" strike="noStrike">
                <a:solidFill>
                  <a:schemeClr val="dk1"/>
                </a:solidFill>
                <a:latin typeface="Times New Roman"/>
                <a:ea typeface="Times New Roman"/>
                <a:cs typeface="Times New Roman"/>
                <a:sym typeface="Times New Roman"/>
              </a:rPr>
              <a:t>line charts, pie charts, scatter plots, and heat maps.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Using a line chart for trends and a pie chart to show proportional data from the same dataset.</a:t>
            </a:r>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Dynamic Nature</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Updates in real time to reflect the latest data changes.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A stock market dashboard that continuously displays real-time price fluctuations.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1"/>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0" name="Google Shape;320;p21"/>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1" name="Google Shape;321;p21"/>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2" name="Google Shape;32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3" name="Google Shape;323;p21"/>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Characteristics（3／3）</a:t>
            </a:r>
            <a:endParaRPr/>
          </a:p>
        </p:txBody>
      </p:sp>
      <p:sp>
        <p:nvSpPr>
          <p:cNvPr id="324" name="Google Shape;324;p21"/>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Simplicity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Filters and streamlines data to emphasize key metrics, reducing information overload.</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A well-designed dashboard displays only the most critical business indicators.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2"/>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0" name="Google Shape;33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1" name="Google Shape;331;p22"/>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Real-Life Applications（1／2）</a:t>
            </a:r>
            <a:endParaRPr/>
          </a:p>
        </p:txBody>
      </p:sp>
      <p:grpSp>
        <p:nvGrpSpPr>
          <p:cNvPr id="332" name="Google Shape;332;p22"/>
          <p:cNvGrpSpPr/>
          <p:nvPr/>
        </p:nvGrpSpPr>
        <p:grpSpPr>
          <a:xfrm>
            <a:off x="944000" y="1175119"/>
            <a:ext cx="10304000" cy="5040000"/>
            <a:chOff x="944000" y="1175118"/>
            <a:chExt cx="10304000" cy="5040000"/>
          </a:xfrm>
        </p:grpSpPr>
        <p:grpSp>
          <p:nvGrpSpPr>
            <p:cNvPr id="333" name="Google Shape;333;p22"/>
            <p:cNvGrpSpPr/>
            <p:nvPr/>
          </p:nvGrpSpPr>
          <p:grpSpPr>
            <a:xfrm>
              <a:off x="944000" y="1175118"/>
              <a:ext cx="4680000" cy="5040000"/>
              <a:chOff x="1407171" y="1175118"/>
              <a:chExt cx="4680000" cy="5040000"/>
            </a:xfrm>
          </p:grpSpPr>
          <p:sp>
            <p:nvSpPr>
              <p:cNvPr descr="統計" id="334" name="Google Shape;334;p22"/>
              <p:cNvSpPr/>
              <p:nvPr/>
            </p:nvSpPr>
            <p:spPr>
              <a:xfrm>
                <a:off x="2991171" y="1175118"/>
                <a:ext cx="1512000" cy="1512000"/>
              </a:xfrm>
              <a:prstGeom prst="rect">
                <a:avLst/>
              </a:prstGeom>
              <a:blipFill rotWithShape="1">
                <a:blip r:embed="rId4">
                  <a:alphaModFix/>
                </a:blip>
                <a:stretch>
                  <a:fillRect b="0" l="0" r="0" t="0"/>
                </a:stretch>
              </a:blip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35" name="Google Shape;335;p22"/>
              <p:cNvSpPr/>
              <p:nvPr/>
            </p:nvSpPr>
            <p:spPr>
              <a:xfrm>
                <a:off x="1407171" y="2823717"/>
                <a:ext cx="4680000" cy="617891"/>
              </a:xfrm>
              <a:custGeom>
                <a:rect b="b" l="l" r="r" t="t"/>
                <a:pathLst>
                  <a:path extrusionOk="0" h="617891" w="4311566">
                    <a:moveTo>
                      <a:pt x="0" y="0"/>
                    </a:moveTo>
                    <a:lnTo>
                      <a:pt x="4311566" y="0"/>
                    </a:lnTo>
                    <a:lnTo>
                      <a:pt x="4311566" y="617891"/>
                    </a:lnTo>
                    <a:lnTo>
                      <a:pt x="0" y="617891"/>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en-US" sz="2200">
                    <a:solidFill>
                      <a:schemeClr val="dk1"/>
                    </a:solidFill>
                    <a:latin typeface="Times New Roman"/>
                    <a:ea typeface="Times New Roman"/>
                    <a:cs typeface="Times New Roman"/>
                    <a:sym typeface="Times New Roman"/>
                  </a:rPr>
                  <a:t>Business and Market Analysis</a:t>
                </a:r>
                <a:endParaRPr sz="2200">
                  <a:solidFill>
                    <a:schemeClr val="dk1"/>
                  </a:solidFill>
                  <a:latin typeface="Times New Roman"/>
                  <a:ea typeface="Times New Roman"/>
                  <a:cs typeface="Times New Roman"/>
                  <a:sym typeface="Times New Roman"/>
                </a:endParaRPr>
              </a:p>
            </p:txBody>
          </p:sp>
          <p:sp>
            <p:nvSpPr>
              <p:cNvPr id="336" name="Google Shape;336;p22"/>
              <p:cNvSpPr/>
              <p:nvPr/>
            </p:nvSpPr>
            <p:spPr>
              <a:xfrm>
                <a:off x="1407171" y="3537818"/>
                <a:ext cx="4680000" cy="2677300"/>
              </a:xfrm>
              <a:custGeom>
                <a:rect b="b" l="l" r="r" t="t"/>
                <a:pathLst>
                  <a:path extrusionOk="0" h="2677300" w="4311566">
                    <a:moveTo>
                      <a:pt x="0" y="0"/>
                    </a:moveTo>
                    <a:lnTo>
                      <a:pt x="4311566" y="0"/>
                    </a:lnTo>
                    <a:lnTo>
                      <a:pt x="4311566" y="2677300"/>
                    </a:lnTo>
                    <a:lnTo>
                      <a:pt x="0" y="2677300"/>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Companies use visualization to analyze sales trends, inventory, and customer behavior data. </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Example</a:t>
                </a:r>
                <a:br>
                  <a:rPr lang="en-US" sz="2200">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Retailers monitor promotional campaign results through visual charts to adjust marketing strategies.</a:t>
                </a:r>
                <a:endParaRPr sz="2200">
                  <a:solidFill>
                    <a:schemeClr val="dk1"/>
                  </a:solidFill>
                  <a:latin typeface="Times New Roman"/>
                  <a:ea typeface="Times New Roman"/>
                  <a:cs typeface="Times New Roman"/>
                  <a:sym typeface="Times New Roman"/>
                </a:endParaRPr>
              </a:p>
            </p:txBody>
          </p:sp>
        </p:grpSp>
        <p:grpSp>
          <p:nvGrpSpPr>
            <p:cNvPr id="337" name="Google Shape;337;p22"/>
            <p:cNvGrpSpPr/>
            <p:nvPr/>
          </p:nvGrpSpPr>
          <p:grpSpPr>
            <a:xfrm>
              <a:off x="6568000" y="1175118"/>
              <a:ext cx="4680000" cy="5040000"/>
              <a:chOff x="6520370" y="1175118"/>
              <a:chExt cx="4680000" cy="5040000"/>
            </a:xfrm>
          </p:grpSpPr>
          <p:sp>
            <p:nvSpPr>
              <p:cNvPr descr="聽診器" id="338" name="Google Shape;338;p22"/>
              <p:cNvSpPr/>
              <p:nvPr/>
            </p:nvSpPr>
            <p:spPr>
              <a:xfrm>
                <a:off x="8104370" y="1175118"/>
                <a:ext cx="1512000" cy="1512000"/>
              </a:xfrm>
              <a:prstGeom prst="rect">
                <a:avLst/>
              </a:prstGeom>
              <a:blipFill rotWithShape="1">
                <a:blip r:embed="rId5">
                  <a:alphaModFix/>
                </a:blip>
                <a:stretch>
                  <a:fillRect b="0" l="0" r="0" t="0"/>
                </a:stretch>
              </a:blip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39" name="Google Shape;339;p22"/>
              <p:cNvSpPr/>
              <p:nvPr/>
            </p:nvSpPr>
            <p:spPr>
              <a:xfrm>
                <a:off x="6520370" y="2823717"/>
                <a:ext cx="4680000" cy="617891"/>
              </a:xfrm>
              <a:custGeom>
                <a:rect b="b" l="l" r="r" t="t"/>
                <a:pathLst>
                  <a:path extrusionOk="0" h="617891" w="4311566">
                    <a:moveTo>
                      <a:pt x="0" y="0"/>
                    </a:moveTo>
                    <a:lnTo>
                      <a:pt x="4311566" y="0"/>
                    </a:lnTo>
                    <a:lnTo>
                      <a:pt x="4311566" y="617891"/>
                    </a:lnTo>
                    <a:lnTo>
                      <a:pt x="0" y="617891"/>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en-US" sz="2200">
                    <a:solidFill>
                      <a:schemeClr val="dk1"/>
                    </a:solidFill>
                    <a:latin typeface="Times New Roman"/>
                    <a:ea typeface="Times New Roman"/>
                    <a:cs typeface="Times New Roman"/>
                    <a:sym typeface="Times New Roman"/>
                  </a:rPr>
                  <a:t>Healthcare</a:t>
                </a:r>
                <a:endParaRPr sz="2200">
                  <a:solidFill>
                    <a:schemeClr val="dk1"/>
                  </a:solidFill>
                  <a:latin typeface="Times New Roman"/>
                  <a:ea typeface="Times New Roman"/>
                  <a:cs typeface="Times New Roman"/>
                  <a:sym typeface="Times New Roman"/>
                </a:endParaRPr>
              </a:p>
            </p:txBody>
          </p:sp>
          <p:sp>
            <p:nvSpPr>
              <p:cNvPr id="340" name="Google Shape;340;p22"/>
              <p:cNvSpPr/>
              <p:nvPr/>
            </p:nvSpPr>
            <p:spPr>
              <a:xfrm>
                <a:off x="6520370" y="3537818"/>
                <a:ext cx="4680000" cy="2677300"/>
              </a:xfrm>
              <a:custGeom>
                <a:rect b="b" l="l" r="r" t="t"/>
                <a:pathLst>
                  <a:path extrusionOk="0" h="2677300" w="4311566">
                    <a:moveTo>
                      <a:pt x="0" y="0"/>
                    </a:moveTo>
                    <a:lnTo>
                      <a:pt x="4311566" y="0"/>
                    </a:lnTo>
                    <a:lnTo>
                      <a:pt x="4311566" y="2677300"/>
                    </a:lnTo>
                    <a:lnTo>
                      <a:pt x="0" y="2677300"/>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Medical institutions utilize visualization to present patient data, enhancing diagnosis and treatment planning. </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Example</a:t>
                </a:r>
                <a:br>
                  <a:rPr lang="en-US" sz="2200">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Hospitals display patient health indicators in charts to assist doctors in developing treatment plans.</a:t>
                </a:r>
                <a:endParaRPr sz="2200">
                  <a:solidFill>
                    <a:schemeClr val="dk1"/>
                  </a:solidFill>
                  <a:latin typeface="Times New Roman"/>
                  <a:ea typeface="Times New Roman"/>
                  <a:cs typeface="Times New Roman"/>
                  <a:sym typeface="Times New Roman"/>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3"/>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6" name="Google Shape;34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7" name="Google Shape;347;p23"/>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Real-Life Applications（2／2）</a:t>
            </a:r>
            <a:endParaRPr/>
          </a:p>
        </p:txBody>
      </p:sp>
      <p:grpSp>
        <p:nvGrpSpPr>
          <p:cNvPr id="348" name="Google Shape;348;p23"/>
          <p:cNvGrpSpPr/>
          <p:nvPr/>
        </p:nvGrpSpPr>
        <p:grpSpPr>
          <a:xfrm>
            <a:off x="944000" y="1201204"/>
            <a:ext cx="10304000" cy="4987828"/>
            <a:chOff x="944000" y="1201204"/>
            <a:chExt cx="10304000" cy="4987828"/>
          </a:xfrm>
        </p:grpSpPr>
        <p:grpSp>
          <p:nvGrpSpPr>
            <p:cNvPr id="349" name="Google Shape;349;p23"/>
            <p:cNvGrpSpPr/>
            <p:nvPr/>
          </p:nvGrpSpPr>
          <p:grpSpPr>
            <a:xfrm>
              <a:off x="944000" y="1201204"/>
              <a:ext cx="4680000" cy="4987828"/>
              <a:chOff x="1398000" y="1201204"/>
              <a:chExt cx="4680000" cy="4987828"/>
            </a:xfrm>
          </p:grpSpPr>
          <p:sp>
            <p:nvSpPr>
              <p:cNvPr descr="銀行" id="350" name="Google Shape;350;p23"/>
              <p:cNvSpPr/>
              <p:nvPr/>
            </p:nvSpPr>
            <p:spPr>
              <a:xfrm>
                <a:off x="2982000" y="1201204"/>
                <a:ext cx="1512000" cy="1512000"/>
              </a:xfrm>
              <a:prstGeom prst="rect">
                <a:avLst/>
              </a:prstGeom>
              <a:blipFill rotWithShape="1">
                <a:blip r:embed="rId4">
                  <a:alphaModFix/>
                </a:blip>
                <a:stretch>
                  <a:fillRect b="0" l="0" r="0" t="0"/>
                </a:stretch>
              </a:blip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1" name="Google Shape;351;p23"/>
              <p:cNvSpPr/>
              <p:nvPr/>
            </p:nvSpPr>
            <p:spPr>
              <a:xfrm>
                <a:off x="1398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en-US" sz="2200">
                    <a:solidFill>
                      <a:schemeClr val="dk1"/>
                    </a:solidFill>
                    <a:latin typeface="Times New Roman"/>
                    <a:ea typeface="Times New Roman"/>
                    <a:cs typeface="Times New Roman"/>
                    <a:sym typeface="Times New Roman"/>
                  </a:rPr>
                  <a:t>Financial Services</a:t>
                </a:r>
                <a:endParaRPr sz="2200">
                  <a:solidFill>
                    <a:schemeClr val="dk1"/>
                  </a:solidFill>
                  <a:latin typeface="Times New Roman"/>
                  <a:ea typeface="Times New Roman"/>
                  <a:cs typeface="Times New Roman"/>
                  <a:sym typeface="Times New Roman"/>
                </a:endParaRPr>
              </a:p>
            </p:txBody>
          </p:sp>
          <p:sp>
            <p:nvSpPr>
              <p:cNvPr id="352" name="Google Shape;352;p23"/>
              <p:cNvSpPr/>
              <p:nvPr/>
            </p:nvSpPr>
            <p:spPr>
              <a:xfrm>
                <a:off x="1398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Visual tools help analyze market trends, assess risks, and manage asset allocation.</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Example</a:t>
                </a:r>
                <a:br>
                  <a:rPr lang="en-US" sz="2200">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Banks monitor real-time portfolio performance on dashboards for effective risk management.</a:t>
                </a:r>
                <a:endParaRPr sz="2200">
                  <a:solidFill>
                    <a:schemeClr val="dk1"/>
                  </a:solidFill>
                  <a:latin typeface="Times New Roman"/>
                  <a:ea typeface="Times New Roman"/>
                  <a:cs typeface="Times New Roman"/>
                  <a:sym typeface="Times New Roman"/>
                </a:endParaRPr>
              </a:p>
            </p:txBody>
          </p:sp>
        </p:grpSp>
        <p:grpSp>
          <p:nvGrpSpPr>
            <p:cNvPr id="353" name="Google Shape;353;p23"/>
            <p:cNvGrpSpPr/>
            <p:nvPr/>
          </p:nvGrpSpPr>
          <p:grpSpPr>
            <a:xfrm>
              <a:off x="6568000" y="1201204"/>
              <a:ext cx="4680000" cy="4987828"/>
              <a:chOff x="6474000" y="1201204"/>
              <a:chExt cx="4680000" cy="4987828"/>
            </a:xfrm>
          </p:grpSpPr>
          <p:sp>
            <p:nvSpPr>
              <p:cNvPr descr="汽車" id="354" name="Google Shape;354;p23"/>
              <p:cNvSpPr/>
              <p:nvPr/>
            </p:nvSpPr>
            <p:spPr>
              <a:xfrm>
                <a:off x="8058000" y="1201204"/>
                <a:ext cx="1512000" cy="1512000"/>
              </a:xfrm>
              <a:prstGeom prst="rect">
                <a:avLst/>
              </a:prstGeom>
              <a:blipFill rotWithShape="1">
                <a:blip r:embed="rId5">
                  <a:alphaModFix/>
                </a:blip>
                <a:stretch>
                  <a:fillRect b="0" l="0" r="0" t="0"/>
                </a:stretch>
              </a:blipFill>
              <a:ln cap="flat" cmpd="sng" w="19050">
                <a:solidFill>
                  <a:schemeClr val="l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5" name="Google Shape;355;p23"/>
              <p:cNvSpPr/>
              <p:nvPr/>
            </p:nvSpPr>
            <p:spPr>
              <a:xfrm>
                <a:off x="6474000" y="2927681"/>
                <a:ext cx="4680000" cy="648000"/>
              </a:xfrm>
              <a:custGeom>
                <a:rect b="b" l="l" r="r" t="t"/>
                <a:pathLst>
                  <a:path extrusionOk="0" h="648000" w="4320000">
                    <a:moveTo>
                      <a:pt x="0" y="0"/>
                    </a:moveTo>
                    <a:lnTo>
                      <a:pt x="4320000" y="0"/>
                    </a:lnTo>
                    <a:lnTo>
                      <a:pt x="4320000" y="648000"/>
                    </a:lnTo>
                    <a:lnTo>
                      <a:pt x="0" y="648000"/>
                    </a:lnTo>
                    <a:lnTo>
                      <a:pt x="0" y="0"/>
                    </a:lnTo>
                    <a:close/>
                  </a:path>
                </a:pathLst>
              </a:cu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Times New Roman"/>
                  <a:buNone/>
                </a:pPr>
                <a:r>
                  <a:rPr b="1" lang="en-US" sz="2200">
                    <a:solidFill>
                      <a:schemeClr val="dk1"/>
                    </a:solidFill>
                    <a:latin typeface="Times New Roman"/>
                    <a:ea typeface="Times New Roman"/>
                    <a:cs typeface="Times New Roman"/>
                    <a:sym typeface="Times New Roman"/>
                  </a:rPr>
                  <a:t>Smart Cities and Traffic Management</a:t>
                </a:r>
                <a:endParaRPr sz="2200">
                  <a:solidFill>
                    <a:schemeClr val="dk1"/>
                  </a:solidFill>
                  <a:latin typeface="Times New Roman"/>
                  <a:ea typeface="Times New Roman"/>
                  <a:cs typeface="Times New Roman"/>
                  <a:sym typeface="Times New Roman"/>
                </a:endParaRPr>
              </a:p>
            </p:txBody>
          </p:sp>
          <p:sp>
            <p:nvSpPr>
              <p:cNvPr id="356" name="Google Shape;356;p23"/>
              <p:cNvSpPr/>
              <p:nvPr/>
            </p:nvSpPr>
            <p:spPr>
              <a:xfrm>
                <a:off x="6474000" y="3675438"/>
                <a:ext cx="4680000" cy="2513594"/>
              </a:xfrm>
              <a:custGeom>
                <a:rect b="b" l="l" r="r" t="t"/>
                <a:pathLst>
                  <a:path extrusionOk="0" h="2513594" w="4320000">
                    <a:moveTo>
                      <a:pt x="0" y="0"/>
                    </a:moveTo>
                    <a:lnTo>
                      <a:pt x="4320000" y="0"/>
                    </a:lnTo>
                    <a:lnTo>
                      <a:pt x="4320000" y="2513594"/>
                    </a:lnTo>
                    <a:lnTo>
                      <a:pt x="0" y="2513594"/>
                    </a:lnTo>
                    <a:lnTo>
                      <a:pt x="0" y="0"/>
                    </a:lnTo>
                    <a:close/>
                  </a:path>
                </a:pathLst>
              </a:cu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Visualization aids in analyzing urban traffic, energy consumption, and public service efficiency.</a:t>
                </a:r>
                <a:endParaRPr sz="2200">
                  <a:solidFill>
                    <a:schemeClr val="dk1"/>
                  </a:solidFill>
                  <a:latin typeface="Times New Roman"/>
                  <a:ea typeface="Times New Roman"/>
                  <a:cs typeface="Times New Roman"/>
                  <a:sym typeface="Times New Roman"/>
                </a:endParaRPr>
              </a:p>
              <a:p>
                <a:pPr indent="-342900" lvl="0" marL="342900" marR="0" rtl="0" algn="l">
                  <a:lnSpc>
                    <a:spcPct val="100000"/>
                  </a:lnSpc>
                  <a:spcBef>
                    <a:spcPts val="77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Example</a:t>
                </a:r>
                <a:br>
                  <a:rPr lang="en-US" sz="2200">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Traffic departments use heat maps to identify congestion areas and adjust signal timings accordingly.</a:t>
                </a:r>
                <a:endParaRPr sz="2200">
                  <a:solidFill>
                    <a:schemeClr val="dk1"/>
                  </a:solidFill>
                  <a:latin typeface="Times New Roman"/>
                  <a:ea typeface="Times New Roman"/>
                  <a:cs typeface="Times New Roman"/>
                  <a:sym typeface="Times New Roman"/>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4"/>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2" name="Google Shape;362;p24"/>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3" name="Google Shape;36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4" name="Google Shape;364;p24"/>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Importance（1／2）</a:t>
            </a:r>
            <a:endParaRPr/>
          </a:p>
        </p:txBody>
      </p:sp>
      <p:sp>
        <p:nvSpPr>
          <p:cNvPr id="365" name="Google Shape;365;p24"/>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Enhanced Data Understanding and Decision Efficiency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Visual representation transforms abstract data into clear insights, enabling rapid decision-making. </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Dynamic charts help management quickly identify business bottlenecks and adjust strategies.</a:t>
            </a:r>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Facilitation of Data Sharing and Team Collaboration</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Clear visuals make it easier to share data insights across departments, promoting coordinated actions. </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Shared dashboards enable teams to align their goals and work collaboratively.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5"/>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1" name="Google Shape;371;p25"/>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2" name="Google Shape;37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3" name="Google Shape;373;p25"/>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Importance（2／2）</a:t>
            </a:r>
            <a:endParaRPr/>
          </a:p>
        </p:txBody>
      </p:sp>
      <p:sp>
        <p:nvSpPr>
          <p:cNvPr id="374" name="Google Shape;374;p25"/>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Support for Forecasting and Risk Management</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Trend analysis and anomaly detection through visualization help identify potential risks and opportunities early.</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Example</a:t>
            </a:r>
            <a:endParaRPr/>
          </a:p>
          <a:p>
            <a:pPr indent="-228600" lvl="2" marL="1143000" marR="0" rtl="0" algn="just">
              <a:lnSpc>
                <a:spcPct val="120000"/>
              </a:lnSpc>
              <a:spcBef>
                <a:spcPts val="44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Financial institutions use visualization tools to monitor unusual transactions and prevent fraud.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6"/>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0" name="Google Shape;380;p26"/>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1" name="Google Shape;381;p26"/>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2" name="Google Shape;382;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383" name="Google Shape;383;p26"/>
          <p:cNvGrpSpPr/>
          <p:nvPr/>
        </p:nvGrpSpPr>
        <p:grpSpPr>
          <a:xfrm>
            <a:off x="820314" y="1363282"/>
            <a:ext cx="10800000" cy="4946134"/>
            <a:chOff x="0" y="46932"/>
            <a:chExt cx="10800000" cy="4946134"/>
          </a:xfrm>
        </p:grpSpPr>
        <p:sp>
          <p:nvSpPr>
            <p:cNvPr id="384" name="Google Shape;384;p26"/>
            <p:cNvSpPr/>
            <p:nvPr/>
          </p:nvSpPr>
          <p:spPr>
            <a:xfrm>
              <a:off x="0" y="379574"/>
              <a:ext cx="10800000" cy="2083724"/>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6"/>
            <p:cNvSpPr txBox="1"/>
            <p:nvPr/>
          </p:nvSpPr>
          <p:spPr>
            <a:xfrm>
              <a:off x="0" y="379574"/>
              <a:ext cx="10800000" cy="2083724"/>
            </a:xfrm>
            <a:prstGeom prst="rect">
              <a:avLst/>
            </a:prstGeom>
            <a:noFill/>
            <a:ln>
              <a:noFill/>
            </a:ln>
          </p:spPr>
          <p:txBody>
            <a:bodyPr anchorCtr="0" anchor="t" bIns="156450" lIns="838200" spcFirstLastPara="1" rIns="838200" wrap="square" tIns="437375">
              <a:noAutofit/>
            </a:bodyPr>
            <a:lstStyle/>
            <a:p>
              <a:pPr indent="-228600" lvl="1" marL="228600" marR="0" rtl="0" algn="l">
                <a:lnSpc>
                  <a:spcPct val="9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Identifying the most valuable data within massive datasets to avoid overwhelming users.</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Example</a:t>
              </a:r>
              <a:endParaRPr b="0" i="0" sz="22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Overcrowded dashboards can confuse users if too much irrelevant data is displayed.</a:t>
              </a:r>
              <a:endParaRPr b="0" i="0" sz="2200" u="none" cap="none" strike="noStrike">
                <a:solidFill>
                  <a:schemeClr val="dk1"/>
                </a:solidFill>
                <a:latin typeface="Times New Roman"/>
                <a:ea typeface="Times New Roman"/>
                <a:cs typeface="Times New Roman"/>
                <a:sym typeface="Times New Roman"/>
              </a:endParaRPr>
            </a:p>
          </p:txBody>
        </p:sp>
        <p:sp>
          <p:nvSpPr>
            <p:cNvPr id="386" name="Google Shape;386;p26"/>
            <p:cNvSpPr/>
            <p:nvPr/>
          </p:nvSpPr>
          <p:spPr>
            <a:xfrm>
              <a:off x="540000" y="46932"/>
              <a:ext cx="7199992" cy="642602"/>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6"/>
            <p:cNvSpPr txBox="1"/>
            <p:nvPr/>
          </p:nvSpPr>
          <p:spPr>
            <a:xfrm>
              <a:off x="571369" y="78301"/>
              <a:ext cx="7137254" cy="579864"/>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en-US" sz="2200">
                  <a:solidFill>
                    <a:schemeClr val="lt1"/>
                  </a:solidFill>
                  <a:latin typeface="Times New Roman"/>
                  <a:ea typeface="Times New Roman"/>
                  <a:cs typeface="Times New Roman"/>
                  <a:sym typeface="Times New Roman"/>
                </a:rPr>
                <a:t>Data Overload and Information Filtering</a:t>
              </a:r>
              <a:endParaRPr sz="2200">
                <a:solidFill>
                  <a:schemeClr val="lt1"/>
                </a:solidFill>
                <a:latin typeface="Times New Roman"/>
                <a:ea typeface="Times New Roman"/>
                <a:cs typeface="Times New Roman"/>
                <a:sym typeface="Times New Roman"/>
              </a:endParaRPr>
            </a:p>
          </p:txBody>
        </p:sp>
        <p:sp>
          <p:nvSpPr>
            <p:cNvPr id="388" name="Google Shape;388;p26"/>
            <p:cNvSpPr/>
            <p:nvPr/>
          </p:nvSpPr>
          <p:spPr>
            <a:xfrm>
              <a:off x="0" y="2909342"/>
              <a:ext cx="10800000" cy="2083724"/>
            </a:xfrm>
            <a:prstGeom prst="rect">
              <a:avLst/>
            </a:prstGeom>
            <a:solidFill>
              <a:schemeClr val="lt1">
                <a:alpha val="90196"/>
              </a:schemeClr>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6"/>
            <p:cNvSpPr txBox="1"/>
            <p:nvPr/>
          </p:nvSpPr>
          <p:spPr>
            <a:xfrm>
              <a:off x="0" y="2909342"/>
              <a:ext cx="10800000" cy="2083724"/>
            </a:xfrm>
            <a:prstGeom prst="rect">
              <a:avLst/>
            </a:prstGeom>
            <a:noFill/>
            <a:ln>
              <a:noFill/>
            </a:ln>
          </p:spPr>
          <p:txBody>
            <a:bodyPr anchorCtr="0" anchor="t" bIns="156450" lIns="838200" spcFirstLastPara="1" rIns="838200" wrap="square" tIns="437375">
              <a:noAutofit/>
            </a:bodyPr>
            <a:lstStyle/>
            <a:p>
              <a:pPr indent="-228600" lvl="1" marL="228600" marR="0" rtl="0" algn="l">
                <a:lnSpc>
                  <a:spcPct val="9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Inadequate data cleaning and processing can lead to misleading visualizations and poor decisions. </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Example</a:t>
              </a:r>
              <a:endParaRPr b="0" i="0" sz="22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Inaccurate raw data can skew visualization results, affecting the overall analysis.</a:t>
              </a:r>
              <a:endParaRPr b="0" i="0" sz="2200" u="none" cap="none" strike="noStrike">
                <a:solidFill>
                  <a:schemeClr val="dk1"/>
                </a:solidFill>
                <a:latin typeface="Times New Roman"/>
                <a:ea typeface="Times New Roman"/>
                <a:cs typeface="Times New Roman"/>
                <a:sym typeface="Times New Roman"/>
              </a:endParaRPr>
            </a:p>
          </p:txBody>
        </p:sp>
        <p:sp>
          <p:nvSpPr>
            <p:cNvPr id="390" name="Google Shape;390;p26"/>
            <p:cNvSpPr/>
            <p:nvPr/>
          </p:nvSpPr>
          <p:spPr>
            <a:xfrm>
              <a:off x="540000" y="2576700"/>
              <a:ext cx="7199992" cy="642602"/>
            </a:xfrm>
            <a:prstGeom prst="roundRect">
              <a:avLst>
                <a:gd fmla="val 16667" name="adj"/>
              </a:avLst>
            </a:prstGeom>
            <a:solidFill>
              <a:srgbClr val="1A327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6"/>
            <p:cNvSpPr txBox="1"/>
            <p:nvPr/>
          </p:nvSpPr>
          <p:spPr>
            <a:xfrm>
              <a:off x="571369" y="2608069"/>
              <a:ext cx="7137254" cy="579864"/>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en-US" sz="2200">
                  <a:solidFill>
                    <a:schemeClr val="lt1"/>
                  </a:solidFill>
                  <a:latin typeface="Times New Roman"/>
                  <a:ea typeface="Times New Roman"/>
                  <a:cs typeface="Times New Roman"/>
                  <a:sym typeface="Times New Roman"/>
                </a:rPr>
                <a:t>Data Quality and Accuracy</a:t>
              </a:r>
              <a:endParaRPr sz="2200">
                <a:solidFill>
                  <a:schemeClr val="lt1"/>
                </a:solidFill>
                <a:latin typeface="Times New Roman"/>
                <a:ea typeface="Times New Roman"/>
                <a:cs typeface="Times New Roman"/>
                <a:sym typeface="Times New Roman"/>
              </a:endParaRPr>
            </a:p>
          </p:txBody>
        </p:sp>
      </p:grpSp>
      <p:sp>
        <p:nvSpPr>
          <p:cNvPr id="392" name="Google Shape;392;p26"/>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Challenges to Overcome（1／2）</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7"/>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8" name="Google Shape;398;p27"/>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9" name="Google Shape;399;p27"/>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0" name="Google Shape;40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401" name="Google Shape;401;p27"/>
          <p:cNvGrpSpPr/>
          <p:nvPr/>
        </p:nvGrpSpPr>
        <p:grpSpPr>
          <a:xfrm>
            <a:off x="820314" y="1326155"/>
            <a:ext cx="10800000" cy="5020388"/>
            <a:chOff x="0" y="9805"/>
            <a:chExt cx="10800000" cy="5020388"/>
          </a:xfrm>
        </p:grpSpPr>
        <p:sp>
          <p:nvSpPr>
            <p:cNvPr id="402" name="Google Shape;402;p27"/>
            <p:cNvSpPr/>
            <p:nvPr/>
          </p:nvSpPr>
          <p:spPr>
            <a:xfrm>
              <a:off x="0" y="126449"/>
              <a:ext cx="10800000" cy="2438099"/>
            </a:xfrm>
            <a:prstGeom prst="rect">
              <a:avLst/>
            </a:prstGeom>
            <a:solidFill>
              <a:schemeClr val="lt1">
                <a:alpha val="90196"/>
              </a:schemeClr>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7"/>
            <p:cNvSpPr txBox="1"/>
            <p:nvPr/>
          </p:nvSpPr>
          <p:spPr>
            <a:xfrm>
              <a:off x="0" y="126449"/>
              <a:ext cx="10800000" cy="2438099"/>
            </a:xfrm>
            <a:prstGeom prst="rect">
              <a:avLst/>
            </a:prstGeom>
            <a:noFill/>
            <a:ln>
              <a:noFill/>
            </a:ln>
          </p:spPr>
          <p:txBody>
            <a:bodyPr anchorCtr="0" anchor="t" bIns="156450" lIns="838200" spcFirstLastPara="1" rIns="838200" wrap="square" tIns="749800">
              <a:noAutofit/>
            </a:bodyPr>
            <a:lstStyle/>
            <a:p>
              <a:pPr indent="-228600" lvl="1" marL="228600" marR="0" rtl="0" algn="l">
                <a:lnSpc>
                  <a:spcPct val="9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Effective visualization requires the right tools and technical expertise to design impactful displays.</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Example</a:t>
              </a:r>
              <a:endParaRPr b="0" i="0" sz="22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Creating an intuitive, interactive dashboard demands significant investment in professional software and skilled personnel.</a:t>
              </a:r>
              <a:endParaRPr b="0" i="0" sz="2200" u="none" cap="none" strike="noStrike">
                <a:solidFill>
                  <a:schemeClr val="dk1"/>
                </a:solidFill>
                <a:latin typeface="Times New Roman"/>
                <a:ea typeface="Times New Roman"/>
                <a:cs typeface="Times New Roman"/>
                <a:sym typeface="Times New Roman"/>
              </a:endParaRPr>
            </a:p>
          </p:txBody>
        </p:sp>
        <p:sp>
          <p:nvSpPr>
            <p:cNvPr id="404" name="Google Shape;404;p27"/>
            <p:cNvSpPr/>
            <p:nvPr/>
          </p:nvSpPr>
          <p:spPr>
            <a:xfrm>
              <a:off x="540000" y="9805"/>
              <a:ext cx="7199992" cy="648004"/>
            </a:xfrm>
            <a:prstGeom prst="roundRect">
              <a:avLst>
                <a:gd fmla="val 16667" name="adj"/>
              </a:avLst>
            </a:prstGeom>
            <a:solidFill>
              <a:srgbClr val="1A3272"/>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txBox="1"/>
            <p:nvPr/>
          </p:nvSpPr>
          <p:spPr>
            <a:xfrm>
              <a:off x="571633" y="41438"/>
              <a:ext cx="7136726" cy="584738"/>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en-US" sz="2200">
                  <a:solidFill>
                    <a:schemeClr val="lt1"/>
                  </a:solidFill>
                  <a:latin typeface="Times New Roman"/>
                  <a:ea typeface="Times New Roman"/>
                  <a:cs typeface="Times New Roman"/>
                  <a:sym typeface="Times New Roman"/>
                </a:rPr>
                <a:t>Tool and Technology Requirements</a:t>
              </a:r>
              <a:endParaRPr sz="2200">
                <a:solidFill>
                  <a:schemeClr val="lt1"/>
                </a:solidFill>
                <a:latin typeface="Times New Roman"/>
                <a:ea typeface="Times New Roman"/>
                <a:cs typeface="Times New Roman"/>
                <a:sym typeface="Times New Roman"/>
              </a:endParaRPr>
            </a:p>
          </p:txBody>
        </p:sp>
        <p:sp>
          <p:nvSpPr>
            <p:cNvPr id="406" name="Google Shape;406;p27"/>
            <p:cNvSpPr/>
            <p:nvPr/>
          </p:nvSpPr>
          <p:spPr>
            <a:xfrm>
              <a:off x="0" y="2875594"/>
              <a:ext cx="10800000" cy="2154599"/>
            </a:xfrm>
            <a:prstGeom prst="rect">
              <a:avLst/>
            </a:prstGeom>
            <a:solidFill>
              <a:schemeClr val="lt1">
                <a:alpha val="90196"/>
              </a:schemeClr>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7"/>
            <p:cNvSpPr txBox="1"/>
            <p:nvPr/>
          </p:nvSpPr>
          <p:spPr>
            <a:xfrm>
              <a:off x="0" y="2875594"/>
              <a:ext cx="10800000" cy="2154599"/>
            </a:xfrm>
            <a:prstGeom prst="rect">
              <a:avLst/>
            </a:prstGeom>
            <a:noFill/>
            <a:ln>
              <a:noFill/>
            </a:ln>
          </p:spPr>
          <p:txBody>
            <a:bodyPr anchorCtr="0" anchor="t" bIns="156450" lIns="838200" spcFirstLastPara="1" rIns="838200" wrap="square" tIns="749800">
              <a:noAutofit/>
            </a:bodyPr>
            <a:lstStyle/>
            <a:p>
              <a:pPr indent="-228600" lvl="1" marL="228600" marR="0" rtl="0" algn="l">
                <a:lnSpc>
                  <a:spcPct val="9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Designing an interface that is both intuitive and not overly complex.</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Example</a:t>
              </a:r>
              <a:endParaRPr b="0" i="0" sz="2200" u="none" cap="none" strike="noStrike">
                <a:solidFill>
                  <a:schemeClr val="dk1"/>
                </a:solidFill>
                <a:latin typeface="Times New Roman"/>
                <a:ea typeface="Times New Roman"/>
                <a:cs typeface="Times New Roman"/>
                <a:sym typeface="Times New Roman"/>
              </a:endParaRPr>
            </a:p>
            <a:p>
              <a:pPr indent="-228600" lvl="2" marL="4572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Overly complicated filtering options may confuse users and diminish the effectiveness of the visualization.</a:t>
              </a:r>
              <a:endParaRPr b="0" i="0" sz="2200" u="none" cap="none" strike="noStrike">
                <a:solidFill>
                  <a:schemeClr val="dk1"/>
                </a:solidFill>
                <a:latin typeface="Times New Roman"/>
                <a:ea typeface="Times New Roman"/>
                <a:cs typeface="Times New Roman"/>
                <a:sym typeface="Times New Roman"/>
              </a:endParaRPr>
            </a:p>
          </p:txBody>
        </p:sp>
        <p:sp>
          <p:nvSpPr>
            <p:cNvPr id="408" name="Google Shape;408;p27"/>
            <p:cNvSpPr/>
            <p:nvPr/>
          </p:nvSpPr>
          <p:spPr>
            <a:xfrm>
              <a:off x="540000" y="2758950"/>
              <a:ext cx="7199992" cy="648004"/>
            </a:xfrm>
            <a:prstGeom prst="roundRect">
              <a:avLst>
                <a:gd fmla="val 16667" name="adj"/>
              </a:avLst>
            </a:prstGeom>
            <a:solidFill>
              <a:srgbClr val="1A3272"/>
            </a:solidFill>
            <a:ln cap="flat" cmpd="sng" w="19050">
              <a:solidFill>
                <a:srgbClr val="1A327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7"/>
            <p:cNvSpPr txBox="1"/>
            <p:nvPr/>
          </p:nvSpPr>
          <p:spPr>
            <a:xfrm>
              <a:off x="571633" y="2790583"/>
              <a:ext cx="7136726" cy="584738"/>
            </a:xfrm>
            <a:prstGeom prst="rect">
              <a:avLst/>
            </a:prstGeom>
            <a:noFill/>
            <a:ln>
              <a:noFill/>
            </a:ln>
          </p:spPr>
          <p:txBody>
            <a:bodyPr anchorCtr="0" anchor="ctr" bIns="0" lIns="285750" spcFirstLastPara="1" rIns="285750" wrap="square" tIns="0">
              <a:noAutofit/>
            </a:bodyPr>
            <a:lstStyle/>
            <a:p>
              <a:pPr indent="0" lvl="0" marL="0" marR="0" rtl="0" algn="l">
                <a:lnSpc>
                  <a:spcPct val="90000"/>
                </a:lnSpc>
                <a:spcBef>
                  <a:spcPts val="0"/>
                </a:spcBef>
                <a:spcAft>
                  <a:spcPts val="0"/>
                </a:spcAft>
                <a:buClr>
                  <a:schemeClr val="lt1"/>
                </a:buClr>
                <a:buSzPts val="2200"/>
                <a:buFont typeface="Times New Roman"/>
                <a:buNone/>
              </a:pPr>
              <a:r>
                <a:rPr b="1" lang="en-US" sz="2200">
                  <a:solidFill>
                    <a:schemeClr val="lt1"/>
                  </a:solidFill>
                  <a:latin typeface="Times New Roman"/>
                  <a:ea typeface="Times New Roman"/>
                  <a:cs typeface="Times New Roman"/>
                  <a:sym typeface="Times New Roman"/>
                </a:rPr>
                <a:t>User Experience and Interactive Design</a:t>
              </a:r>
              <a:endParaRPr sz="2200">
                <a:solidFill>
                  <a:schemeClr val="lt1"/>
                </a:solidFill>
                <a:latin typeface="Times New Roman"/>
                <a:ea typeface="Times New Roman"/>
                <a:cs typeface="Times New Roman"/>
                <a:sym typeface="Times New Roman"/>
              </a:endParaRPr>
            </a:p>
          </p:txBody>
        </p:sp>
      </p:grpSp>
      <p:sp>
        <p:nvSpPr>
          <p:cNvPr id="410" name="Google Shape;410;p27"/>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Challenges to Overcome（1／2）</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8"/>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6" name="Google Shape;41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7" name="Google Shape;417;p28"/>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Summary</a:t>
            </a:r>
            <a:endParaRPr/>
          </a:p>
        </p:txBody>
      </p:sp>
      <p:sp>
        <p:nvSpPr>
          <p:cNvPr id="418" name="Google Shape;418;p28"/>
          <p:cNvSpPr txBox="1"/>
          <p:nvPr/>
        </p:nvSpPr>
        <p:spPr>
          <a:xfrm>
            <a:off x="1596000" y="1175119"/>
            <a:ext cx="9000000" cy="5040000"/>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Clr>
                <a:schemeClr val="dk1"/>
              </a:buClr>
              <a:buSzPts val="2200"/>
              <a:buFont typeface="Noto Sans Symbols"/>
              <a:buNone/>
            </a:pPr>
            <a:r>
              <a:rPr lang="en-US" sz="2200">
                <a:solidFill>
                  <a:schemeClr val="dk1"/>
                </a:solidFill>
                <a:latin typeface="Times New Roman"/>
                <a:ea typeface="Times New Roman"/>
                <a:cs typeface="Times New Roman"/>
                <a:sym typeface="Times New Roman"/>
              </a:rPr>
              <a:t>Big Data Visualization is a critical technique for transforming complex data into clear visual insights, facilitating better understanding, decision-making, and collaboration. Despite challenges such as data overload, quality control, and technical demands, ongoing technological advancements are expanding its applications across various industries, making it an essential tool in modern data analysis and decision support.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9"/>
          <p:cNvSpPr/>
          <p:nvPr/>
        </p:nvSpPr>
        <p:spPr>
          <a:xfrm rot="5400000">
            <a:off x="11357044" y="2718976"/>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4" name="Google Shape;424;p29"/>
          <p:cNvSpPr/>
          <p:nvPr/>
        </p:nvSpPr>
        <p:spPr>
          <a:xfrm rot="-5400000">
            <a:off x="584958" y="2719111"/>
            <a:ext cx="249997" cy="1419914"/>
          </a:xfrm>
          <a:custGeom>
            <a:rect b="b" l="l" r="r" t="t"/>
            <a:pathLst>
              <a:path extrusionOk="0" h="13366166" w="2353310">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一張含有 螢幕擷取畫面, 模糊, 鮮豔, 光線 的圖片&#10;&#10;AI 產生的內容可能不正確。" id="425" name="Google Shape;425;p29">
            <a:hlinkClick r:id="rId3"/>
          </p:cNvPr>
          <p:cNvPicPr preferRelativeResize="0"/>
          <p:nvPr/>
        </p:nvPicPr>
        <p:blipFill rotWithShape="1">
          <a:blip r:embed="rId4">
            <a:alphaModFix/>
          </a:blip>
          <a:srcRect b="0" l="0" r="0" t="0"/>
          <a:stretch/>
        </p:blipFill>
        <p:spPr>
          <a:xfrm>
            <a:off x="2496000" y="1660582"/>
            <a:ext cx="7200000" cy="4069074"/>
          </a:xfrm>
          <a:prstGeom prst="rect">
            <a:avLst/>
          </a:prstGeom>
          <a:noFill/>
          <a:ln>
            <a:noFill/>
          </a:ln>
        </p:spPr>
      </p:pic>
      <p:sp>
        <p:nvSpPr>
          <p:cNvPr id="426" name="Google Shape;426;p29"/>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Big Data and Data Visualization</a:t>
            </a:r>
            <a:endParaRPr/>
          </a:p>
        </p:txBody>
      </p:sp>
      <p:sp>
        <p:nvSpPr>
          <p:cNvPr id="427" name="Google Shape;42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0"/>
          <p:cNvSpPr/>
          <p:nvPr/>
        </p:nvSpPr>
        <p:spPr>
          <a:xfrm>
            <a:off x="10352639" y="-363261"/>
            <a:ext cx="2064028" cy="2098123"/>
          </a:xfrm>
          <a:custGeom>
            <a:rect b="b" l="l" r="r" t="t"/>
            <a:pathLst>
              <a:path extrusionOk="0" h="2098123" w="2064028">
                <a:moveTo>
                  <a:pt x="0" y="0"/>
                </a:moveTo>
                <a:lnTo>
                  <a:pt x="2064029" y="0"/>
                </a:lnTo>
                <a:lnTo>
                  <a:pt x="2064029"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3" name="Google Shape;433;p30"/>
          <p:cNvSpPr/>
          <p:nvPr/>
        </p:nvSpPr>
        <p:spPr>
          <a:xfrm rot="-2574853">
            <a:off x="1192090" y="5863432"/>
            <a:ext cx="2449838" cy="2449838"/>
          </a:xfrm>
          <a:custGeom>
            <a:rect b="b" l="l" r="r" t="t"/>
            <a:pathLst>
              <a:path extrusionOk="0" h="2449838" w="2449838">
                <a:moveTo>
                  <a:pt x="0" y="0"/>
                </a:moveTo>
                <a:lnTo>
                  <a:pt x="2449839" y="0"/>
                </a:lnTo>
                <a:lnTo>
                  <a:pt x="2449839" y="2449838"/>
                </a:lnTo>
                <a:lnTo>
                  <a:pt x="0" y="244983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4" name="Google Shape;434;p30"/>
          <p:cNvSpPr/>
          <p:nvPr/>
        </p:nvSpPr>
        <p:spPr>
          <a:xfrm>
            <a:off x="-570614" y="3592243"/>
            <a:ext cx="1371600" cy="1371600"/>
          </a:xfrm>
          <a:custGeom>
            <a:rect b="b" l="l" r="r" t="t"/>
            <a:pathLst>
              <a:path extrusionOk="0" h="1371600" w="1371600">
                <a:moveTo>
                  <a:pt x="0" y="0"/>
                </a:moveTo>
                <a:lnTo>
                  <a:pt x="1371600" y="0"/>
                </a:lnTo>
                <a:lnTo>
                  <a:pt x="1371600" y="1371600"/>
                </a:lnTo>
                <a:lnTo>
                  <a:pt x="0" y="13716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5" name="Google Shape;435;p30"/>
          <p:cNvSpPr txBox="1"/>
          <p:nvPr/>
        </p:nvSpPr>
        <p:spPr>
          <a:xfrm>
            <a:off x="1596000" y="2512243"/>
            <a:ext cx="9000000" cy="10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0">
                <a:solidFill>
                  <a:srgbClr val="26459B"/>
                </a:solidFill>
                <a:latin typeface="Microsoft JhengHei"/>
                <a:ea typeface="Microsoft JhengHei"/>
                <a:cs typeface="Microsoft JhengHei"/>
                <a:sym typeface="Microsoft JhengHei"/>
              </a:rPr>
              <a:t>Methods, Techniques, and Tools for Big Data Visualization</a:t>
            </a:r>
            <a:endParaRPr/>
          </a:p>
        </p:txBody>
      </p:sp>
      <p:sp>
        <p:nvSpPr>
          <p:cNvPr id="436" name="Google Shape;436;p30"/>
          <p:cNvSpPr/>
          <p:nvPr/>
        </p:nvSpPr>
        <p:spPr>
          <a:xfrm rot="8681927">
            <a:off x="-815038" y="4519240"/>
            <a:ext cx="3232047" cy="2743200"/>
          </a:xfrm>
          <a:custGeom>
            <a:rect b="b" l="l" r="r" t="t"/>
            <a:pathLst>
              <a:path extrusionOk="0" h="2743200" w="3232047">
                <a:moveTo>
                  <a:pt x="0" y="0"/>
                </a:moveTo>
                <a:lnTo>
                  <a:pt x="3232047" y="0"/>
                </a:lnTo>
                <a:lnTo>
                  <a:pt x="3232047" y="2743200"/>
                </a:lnTo>
                <a:lnTo>
                  <a:pt x="0" y="274320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1"/>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2" name="Google Shape;442;p31"/>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3" name="Google Shape;44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4" name="Google Shape;444;p31"/>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Methods（1／2）</a:t>
            </a:r>
            <a:endParaRPr/>
          </a:p>
        </p:txBody>
      </p:sp>
      <p:sp>
        <p:nvSpPr>
          <p:cNvPr id="445" name="Google Shape;445;p31"/>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l">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Static Chart Display</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Uses fixed charts (e.g., bar charts, line charts, pie charts) to show historical data and trends. </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Suitable for reports and documents that present specific metrics.</a:t>
            </a:r>
            <a:endParaRPr/>
          </a:p>
          <a:p>
            <a:pPr indent="-203200" lvl="0" marL="342900" marR="0" rtl="0" algn="l">
              <a:lnSpc>
                <a:spcPct val="120000"/>
              </a:lnSpc>
              <a:spcBef>
                <a:spcPts val="440"/>
              </a:spcBef>
              <a:spcAft>
                <a:spcPts val="0"/>
              </a:spcAft>
              <a:buClr>
                <a:schemeClr val="lt2"/>
              </a:buClr>
              <a:buSzPts val="2200"/>
              <a:buFont typeface="Noto Sans Symbols"/>
              <a:buNone/>
            </a:pPr>
            <a:r>
              <a:t/>
            </a:r>
            <a:endParaRPr b="1" sz="2200">
              <a:solidFill>
                <a:schemeClr val="dk1"/>
              </a:solidFill>
              <a:latin typeface="Times New Roman"/>
              <a:ea typeface="Times New Roman"/>
              <a:cs typeface="Times New Roman"/>
              <a:sym typeface="Times New Roman"/>
            </a:endParaRPr>
          </a:p>
          <a:p>
            <a:pPr indent="-342900" lvl="0" marL="342900" marR="0" rtl="0" algn="l">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Dynamic Dashboards</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Presents real-time data with interactive dashboards that allow filtering, zooming, and live updates.</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Commonly used in enterprise decision support systems and real-time monitoring.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2"/>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1" name="Google Shape;451;p32"/>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2" name="Google Shape;45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3" name="Google Shape;453;p32"/>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Methods（2／2）</a:t>
            </a:r>
            <a:endParaRPr/>
          </a:p>
        </p:txBody>
      </p:sp>
      <p:sp>
        <p:nvSpPr>
          <p:cNvPr id="454" name="Google Shape;454;p32"/>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l">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Geographic Visualization</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Combines data with geographic information, displaying regional differences </a:t>
            </a:r>
            <a:br>
              <a:rPr b="0" i="0" lang="en-US" sz="2200" u="none" cap="none" strike="noStrike">
                <a:solidFill>
                  <a:schemeClr val="dk1"/>
                </a:solidFill>
                <a:latin typeface="Times New Roman"/>
                <a:ea typeface="Times New Roman"/>
                <a:cs typeface="Times New Roman"/>
                <a:sym typeface="Times New Roman"/>
              </a:rPr>
            </a:br>
            <a:r>
              <a:rPr b="0" i="0" lang="en-US" sz="2200" u="none" cap="none" strike="noStrike">
                <a:solidFill>
                  <a:schemeClr val="dk1"/>
                </a:solidFill>
                <a:latin typeface="Times New Roman"/>
                <a:ea typeface="Times New Roman"/>
                <a:cs typeface="Times New Roman"/>
                <a:sym typeface="Times New Roman"/>
              </a:rPr>
              <a:t>and spatial distribution on maps.</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Ideal for traffic management, sales distribution, and monitoring epidemics.</a:t>
            </a:r>
            <a:endParaRPr b="1" i="0" sz="2200" u="none" cap="none" strike="noStrike">
              <a:solidFill>
                <a:schemeClr val="dk1"/>
              </a:solidFill>
              <a:latin typeface="Times New Roman"/>
              <a:ea typeface="Times New Roman"/>
              <a:cs typeface="Times New Roman"/>
              <a:sym typeface="Times New Roman"/>
            </a:endParaRPr>
          </a:p>
          <a:p>
            <a:pPr indent="-342900" lvl="0" marL="342900" marR="0" rtl="0" algn="l">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Network and Relationship Graphs</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Displays the connections and network structures within data, such as in social network analysis.</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Helps in understanding community structures and relationship patterns.</a:t>
            </a:r>
            <a:endParaRPr/>
          </a:p>
          <a:p>
            <a:pPr indent="-342900" lvl="0" marL="342900" marR="0" rtl="0" algn="l">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Exploratory Data Analysis</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Combines statistical analysis with visualization to help users identify patterns, anomalies, and trends from large datasets.</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Useful for data preprocessing, clustering, and trend prediction.</a:t>
            </a:r>
            <a:endParaRPr b="1"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3"/>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0" name="Google Shape;460;p33"/>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1" name="Google Shape;461;p33"/>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2" name="Google Shape;462;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3" name="Google Shape;463;p33"/>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Techniques（1／2）</a:t>
            </a:r>
            <a:endParaRPr/>
          </a:p>
        </p:txBody>
      </p:sp>
      <p:sp>
        <p:nvSpPr>
          <p:cNvPr id="464" name="Google Shape;464;p33"/>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Data Preprocessing and Cleaning</a:t>
            </a:r>
            <a:endParaRPr/>
          </a:p>
          <a:p>
            <a:pPr indent="-285750" lvl="1" marL="742950" marR="0" rtl="0" algn="l">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Involves data aggregation, sampling, and noise reduction to </a:t>
            </a:r>
            <a:br>
              <a:rPr b="0" i="0" lang="en-US" sz="2200" u="none" cap="none" strike="noStrike">
                <a:solidFill>
                  <a:schemeClr val="dk1"/>
                </a:solidFill>
                <a:latin typeface="Times New Roman"/>
                <a:ea typeface="Times New Roman"/>
                <a:cs typeface="Times New Roman"/>
                <a:sym typeface="Times New Roman"/>
              </a:rPr>
            </a:br>
            <a:r>
              <a:rPr b="0" i="0" lang="en-US" sz="2200" u="none" cap="none" strike="noStrike">
                <a:solidFill>
                  <a:schemeClr val="dk1"/>
                </a:solidFill>
                <a:latin typeface="Times New Roman"/>
                <a:ea typeface="Times New Roman"/>
                <a:cs typeface="Times New Roman"/>
                <a:sym typeface="Times New Roman"/>
              </a:rPr>
              <a:t>handle vast and messy raw data.</a:t>
            </a:r>
            <a:endParaRPr/>
          </a:p>
          <a:p>
            <a:pPr indent="0" lvl="0" marL="57150" marR="0" rtl="0" algn="just">
              <a:lnSpc>
                <a:spcPct val="120000"/>
              </a:lnSpc>
              <a:spcBef>
                <a:spcPts val="440"/>
              </a:spcBef>
              <a:spcAft>
                <a:spcPts val="0"/>
              </a:spcAft>
              <a:buClr>
                <a:schemeClr val="lt2"/>
              </a:buClr>
              <a:buSzPts val="2200"/>
              <a:buFont typeface="Noto Sans Symbols"/>
              <a:buNone/>
            </a:pPr>
            <a:r>
              <a:t/>
            </a:r>
            <a:endParaRPr sz="2200">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Dimensionality Reduction</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Uses methods like Principal Component Analysis (PCA) or t-SNE to project high-dimensional data into a lower-dimensional space for easier visualization.</a:t>
            </a:r>
            <a:endParaRPr/>
          </a:p>
          <a:p>
            <a:pPr indent="0" lvl="0" marL="57150" marR="0" rtl="0" algn="just">
              <a:lnSpc>
                <a:spcPct val="120000"/>
              </a:lnSpc>
              <a:spcBef>
                <a:spcPts val="440"/>
              </a:spcBef>
              <a:spcAft>
                <a:spcPts val="0"/>
              </a:spcAft>
              <a:buClr>
                <a:schemeClr val="lt2"/>
              </a:buClr>
              <a:buSzPts val="2200"/>
              <a:buFont typeface="Noto Sans Symbols"/>
              <a:buNone/>
            </a:pPr>
            <a:r>
              <a:t/>
            </a:r>
            <a:endParaRPr sz="2200">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Machine Learning and Deep Learning</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Employs clustering, classification, and regression techniques to extract patterns from data, which can then be visualized.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4"/>
          <p:cNvSpPr/>
          <p:nvPr/>
        </p:nvSpPr>
        <p:spPr>
          <a:xfrm rot="-2574853">
            <a:off x="8480783" y="511045"/>
            <a:ext cx="1644064" cy="1644064"/>
          </a:xfrm>
          <a:custGeom>
            <a:rect b="b" l="l" r="r" t="t"/>
            <a:pathLst>
              <a:path extrusionOk="0" h="1644064" w="1644064">
                <a:moveTo>
                  <a:pt x="0" y="0"/>
                </a:moveTo>
                <a:lnTo>
                  <a:pt x="1644064" y="0"/>
                </a:lnTo>
                <a:lnTo>
                  <a:pt x="1644064" y="1644064"/>
                </a:lnTo>
                <a:lnTo>
                  <a:pt x="0" y="16440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0" name="Google Shape;470;p34"/>
          <p:cNvSpPr/>
          <p:nvPr/>
        </p:nvSpPr>
        <p:spPr>
          <a:xfrm>
            <a:off x="9684242" y="1333077"/>
            <a:ext cx="947967" cy="947967"/>
          </a:xfrm>
          <a:custGeom>
            <a:rect b="b" l="l" r="r" t="t"/>
            <a:pathLst>
              <a:path extrusionOk="0" h="947967" w="947967">
                <a:moveTo>
                  <a:pt x="0" y="0"/>
                </a:moveTo>
                <a:lnTo>
                  <a:pt x="947967" y="0"/>
                </a:lnTo>
                <a:lnTo>
                  <a:pt x="947967" y="947967"/>
                </a:lnTo>
                <a:lnTo>
                  <a:pt x="0" y="94796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1" name="Google Shape;471;p34"/>
          <p:cNvSpPr/>
          <p:nvPr/>
        </p:nvSpPr>
        <p:spPr>
          <a:xfrm rot="-1572027">
            <a:off x="10615795" y="-663297"/>
            <a:ext cx="3600268" cy="3055727"/>
          </a:xfrm>
          <a:custGeom>
            <a:rect b="b" l="l" r="r" t="t"/>
            <a:pathLst>
              <a:path extrusionOk="0" h="3055727" w="3600268">
                <a:moveTo>
                  <a:pt x="0" y="0"/>
                </a:moveTo>
                <a:lnTo>
                  <a:pt x="3600268" y="0"/>
                </a:lnTo>
                <a:lnTo>
                  <a:pt x="3600268" y="3055727"/>
                </a:lnTo>
                <a:lnTo>
                  <a:pt x="0" y="30557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2" name="Google Shape;472;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3" name="Google Shape;473;p34"/>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Techniques（2／2）</a:t>
            </a:r>
            <a:endParaRPr/>
          </a:p>
        </p:txBody>
      </p:sp>
      <p:sp>
        <p:nvSpPr>
          <p:cNvPr id="474" name="Google Shape;474;p34"/>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Interactive Design Techniques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Uses front-end technologies (such as JavaScript, HTML5, and CSS) to create interactive experiences between users and data.</a:t>
            </a:r>
            <a:endParaRPr/>
          </a:p>
          <a:p>
            <a:pPr indent="-146050" lvl="1" marL="742950" marR="0" rtl="0" algn="just">
              <a:lnSpc>
                <a:spcPct val="120000"/>
              </a:lnSpc>
              <a:spcBef>
                <a:spcPts val="440"/>
              </a:spcBef>
              <a:spcAft>
                <a:spcPts val="0"/>
              </a:spcAft>
              <a:buClr>
                <a:schemeClr val="lt2"/>
              </a:buClr>
              <a:buSzPts val="2200"/>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Real-Time Data Processing</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Utilizes stream processing frameworks (e.g., Apache Kafka, Apache Spark Streaming) to process and display data in real time.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5"/>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0" name="Google Shape;480;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1" name="Google Shape;481;p35"/>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Tools（1／2）</a:t>
            </a:r>
            <a:endParaRPr/>
          </a:p>
        </p:txBody>
      </p:sp>
      <p:sp>
        <p:nvSpPr>
          <p:cNvPr id="482" name="Google Shape;482;p35"/>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Professional Visualization Platforms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Tableau：User-friendly, ideal for enterprise dashboards and business intelligence analysis.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Power BI：A Microsoft product that easily integrates with other office tools, suitable for small and medium-sized enterprises.</a:t>
            </a:r>
            <a:endParaRPr/>
          </a:p>
          <a:p>
            <a:pPr indent="0" lvl="0" marL="57150" marR="0" rtl="0" algn="just">
              <a:lnSpc>
                <a:spcPct val="120000"/>
              </a:lnSpc>
              <a:spcBef>
                <a:spcPts val="440"/>
              </a:spcBef>
              <a:spcAft>
                <a:spcPts val="0"/>
              </a:spcAft>
              <a:buClr>
                <a:schemeClr val="lt2"/>
              </a:buClr>
              <a:buSzPts val="2200"/>
              <a:buFont typeface="Noto Sans Symbols"/>
              <a:buNone/>
            </a:pPr>
            <a:r>
              <a:t/>
            </a:r>
            <a:endParaRPr sz="2200">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Programming Languages and Libraries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Python：Common visualization libraries include Matplotlib, Seaborn, Plotly, and Bokeh, which are ideal for custom and in-depth data analysis.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R：Uses packages like ggplot2 and Shiny for data visualization and building interactive applications.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6"/>
          <p:cNvSpPr/>
          <p:nvPr/>
        </p:nvSpPr>
        <p:spPr>
          <a:xfrm>
            <a:off x="10474246" y="-363261"/>
            <a:ext cx="2064028" cy="2098123"/>
          </a:xfrm>
          <a:custGeom>
            <a:rect b="b" l="l" r="r" t="t"/>
            <a:pathLst>
              <a:path extrusionOk="0" h="2098123" w="2064028">
                <a:moveTo>
                  <a:pt x="0" y="0"/>
                </a:moveTo>
                <a:lnTo>
                  <a:pt x="2064028" y="0"/>
                </a:lnTo>
                <a:lnTo>
                  <a:pt x="2064028" y="2098122"/>
                </a:lnTo>
                <a:lnTo>
                  <a:pt x="0" y="20981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8" name="Google Shape;488;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9" name="Google Shape;489;p36"/>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Tools（2／2）</a:t>
            </a:r>
            <a:endParaRPr/>
          </a:p>
        </p:txBody>
      </p:sp>
      <p:sp>
        <p:nvSpPr>
          <p:cNvPr id="490" name="Google Shape;490;p36"/>
          <p:cNvSpPr txBox="1"/>
          <p:nvPr/>
        </p:nvSpPr>
        <p:spPr>
          <a:xfrm>
            <a:off x="820314" y="1175119"/>
            <a:ext cx="10800000" cy="5040000"/>
          </a:xfrm>
          <a:prstGeom prst="rect">
            <a:avLst/>
          </a:prstGeom>
          <a:noFill/>
          <a:ln>
            <a:noFill/>
          </a:ln>
        </p:spPr>
        <p:txBody>
          <a:bodyPr anchorCtr="0" anchor="ctr" bIns="0" lIns="0" spcFirstLastPara="1" rIns="0" wrap="square" tIns="0">
            <a:noAutofit/>
          </a:bodyPr>
          <a:lstStyle/>
          <a:p>
            <a:pPr indent="-342900" lvl="0" marL="342900" marR="0" rtl="0" algn="just">
              <a:lnSpc>
                <a:spcPct val="120000"/>
              </a:lnSpc>
              <a:spcBef>
                <a:spcPts val="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Web-Based Visualization Technologies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D3.js：A powerful JavaScript library for creating highly customizable interactive web visualizations.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Echarts：Developed by Baidu, suitable for quickly building dynamic charts and dashboards.</a:t>
            </a:r>
            <a:endParaRPr/>
          </a:p>
          <a:p>
            <a:pPr indent="0" lvl="0" marL="57150" marR="0" rtl="0" algn="just">
              <a:lnSpc>
                <a:spcPct val="120000"/>
              </a:lnSpc>
              <a:spcBef>
                <a:spcPts val="440"/>
              </a:spcBef>
              <a:spcAft>
                <a:spcPts val="0"/>
              </a:spcAft>
              <a:buClr>
                <a:schemeClr val="lt2"/>
              </a:buClr>
              <a:buSzPts val="2200"/>
              <a:buFont typeface="Noto Sans Symbols"/>
              <a:buNone/>
            </a:pPr>
            <a:r>
              <a:t/>
            </a:r>
            <a:endParaRPr sz="2200">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440"/>
              </a:spcBef>
              <a:spcAft>
                <a:spcPts val="0"/>
              </a:spcAft>
              <a:buClr>
                <a:schemeClr val="dk1"/>
              </a:buClr>
              <a:buSzPts val="2200"/>
              <a:buFont typeface="Noto Sans Symbols"/>
              <a:buChar char="❑"/>
            </a:pPr>
            <a:r>
              <a:rPr b="1" lang="en-US" sz="2200">
                <a:solidFill>
                  <a:schemeClr val="dk1"/>
                </a:solidFill>
                <a:latin typeface="Times New Roman"/>
                <a:ea typeface="Times New Roman"/>
                <a:cs typeface="Times New Roman"/>
                <a:sym typeface="Times New Roman"/>
              </a:rPr>
              <a:t>Big Data Processing Platforms</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Apache Zeppelin / Jupyter Notebook：Combines coding and visualization, ideal for data exploration and model demonstration.</a:t>
            </a:r>
            <a:endParaRPr/>
          </a:p>
          <a:p>
            <a:pPr indent="-285750" lvl="1" marL="742950" marR="0" rtl="0" algn="just">
              <a:lnSpc>
                <a:spcPct val="120000"/>
              </a:lnSpc>
              <a:spcBef>
                <a:spcPts val="44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QlikView / Qlik Sense：Data discovery and visualization platforms that support enterprise-level data analysis and sharing.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7"/>
          <p:cNvSpPr/>
          <p:nvPr/>
        </p:nvSpPr>
        <p:spPr>
          <a:xfrm rot="-5400000">
            <a:off x="1151319" y="-1473150"/>
            <a:ext cx="5368670" cy="9513404"/>
          </a:xfrm>
          <a:custGeom>
            <a:rect b="b" l="l" r="r" t="t"/>
            <a:pathLst>
              <a:path extrusionOk="0" h="4170119" w="2353310">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6" name="Google Shape;496;p37"/>
          <p:cNvSpPr/>
          <p:nvPr/>
        </p:nvSpPr>
        <p:spPr>
          <a:xfrm flipH="1" rot="-5400000">
            <a:off x="10162952" y="190670"/>
            <a:ext cx="1755344" cy="1784340"/>
          </a:xfrm>
          <a:custGeom>
            <a:rect b="b" l="l" r="r" t="t"/>
            <a:pathLst>
              <a:path extrusionOk="0" h="1784340" w="1755344">
                <a:moveTo>
                  <a:pt x="1755344" y="0"/>
                </a:moveTo>
                <a:lnTo>
                  <a:pt x="0" y="0"/>
                </a:lnTo>
                <a:lnTo>
                  <a:pt x="0" y="1784340"/>
                </a:lnTo>
                <a:lnTo>
                  <a:pt x="1755344" y="1784340"/>
                </a:lnTo>
                <a:lnTo>
                  <a:pt x="175534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7" name="Google Shape;49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8" name="Google Shape;498;p37"/>
          <p:cNvSpPr txBox="1"/>
          <p:nvPr/>
        </p:nvSpPr>
        <p:spPr>
          <a:xfrm>
            <a:off x="820314" y="133889"/>
            <a:ext cx="9000000" cy="900000"/>
          </a:xfrm>
          <a:prstGeom prst="rect">
            <a:avLst/>
          </a:prstGeom>
          <a:noFill/>
          <a:ln>
            <a:noFill/>
          </a:ln>
        </p:spPr>
        <p:txBody>
          <a:bodyPr anchorCtr="0" anchor="ctr" bIns="0" lIns="0" spcFirstLastPara="1" rIns="0" wrap="square" tIns="0">
            <a:noAutofit/>
          </a:bodyPr>
          <a:lstStyle/>
          <a:p>
            <a:pPr indent="0" lvl="0" marL="0" marR="0" rtl="0" algn="l">
              <a:lnSpc>
                <a:spcPct val="165916"/>
              </a:lnSpc>
              <a:spcBef>
                <a:spcPts val="0"/>
              </a:spcBef>
              <a:spcAft>
                <a:spcPts val="0"/>
              </a:spcAft>
              <a:buNone/>
            </a:pPr>
            <a:r>
              <a:rPr b="1" lang="en-US" sz="3600">
                <a:solidFill>
                  <a:srgbClr val="26459B"/>
                </a:solidFill>
                <a:latin typeface="Microsoft JhengHei"/>
                <a:ea typeface="Microsoft JhengHei"/>
                <a:cs typeface="Microsoft JhengHei"/>
                <a:sym typeface="Microsoft JhengHei"/>
              </a:rPr>
              <a:t>Summary</a:t>
            </a:r>
            <a:endParaRPr/>
          </a:p>
        </p:txBody>
      </p:sp>
      <p:sp>
        <p:nvSpPr>
          <p:cNvPr id="499" name="Google Shape;499;p37"/>
          <p:cNvSpPr txBox="1"/>
          <p:nvPr/>
        </p:nvSpPr>
        <p:spPr>
          <a:xfrm>
            <a:off x="1596000" y="1175119"/>
            <a:ext cx="9000000" cy="5040000"/>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Clr>
                <a:schemeClr val="dk1"/>
              </a:buClr>
              <a:buSzPts val="2200"/>
              <a:buFont typeface="Noto Sans Symbols"/>
              <a:buNone/>
            </a:pPr>
            <a:r>
              <a:rPr lang="en-US" sz="2200">
                <a:solidFill>
                  <a:schemeClr val="dk1"/>
                </a:solidFill>
                <a:latin typeface="Times New Roman"/>
                <a:ea typeface="Times New Roman"/>
                <a:cs typeface="Times New Roman"/>
                <a:sym typeface="Times New Roman"/>
              </a:rPr>
              <a:t>These methods, techniques, and tools form a complete framework for big data visualization. They help users in various fields extract valuable insights from vast and complex datasets and present them in an intuitive manner, ultimately supporting decision-making and business optimization.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自訂設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